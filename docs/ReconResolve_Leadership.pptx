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371600"/>
            <a:ext cx="10515600" cy="365760"/>
          </a:xfrm>
          <a:prstGeom prst="rect">
            <a:avLst/>
          </a:prstGeom>
          <a:noFill/>
        </p:spPr>
        <p:txBody>
          <a:bodyPr wrap="square" anchor="t" lIns="0" rIns="0" tIns="0" bIns="0">
            <a:spAutoFit/>
          </a:bodyPr>
          <a:lstStyle/>
          <a:p>
            <a:pPr algn="l">
              <a:lnSpc>
                <a:spcPct val="100000"/>
              </a:lnSpc>
              <a:spcAft>
                <a:spcPts val="400"/>
              </a:spcAft>
            </a:pPr>
            <a:r>
              <a:rPr sz="1500" b="1">
                <a:solidFill>
                  <a:srgbClr val="C56A2E"/>
                </a:solidFill>
                <a:latin typeface="Archivo"/>
              </a:rPr>
              <a:t>RECONRESOLVE</a:t>
            </a:r>
          </a:p>
        </p:txBody>
      </p:sp>
      <p:sp>
        <p:nvSpPr>
          <p:cNvPr id="5" name="TextBox 4"/>
          <p:cNvSpPr txBox="1"/>
          <p:nvPr/>
        </p:nvSpPr>
        <p:spPr>
          <a:xfrm>
            <a:off x="822960" y="1783080"/>
            <a:ext cx="10515600" cy="320040"/>
          </a:xfrm>
          <a:prstGeom prst="rect">
            <a:avLst/>
          </a:prstGeom>
          <a:noFill/>
        </p:spPr>
        <p:txBody>
          <a:bodyPr wrap="square" anchor="t" lIns="0" rIns="0" tIns="0" bIns="0">
            <a:spAutoFit/>
          </a:bodyPr>
          <a:lstStyle/>
          <a:p>
            <a:pPr algn="l">
              <a:lnSpc>
                <a:spcPct val="100000"/>
              </a:lnSpc>
              <a:spcAft>
                <a:spcPts val="400"/>
              </a:spcAft>
            </a:pPr>
            <a:r>
              <a:rPr sz="1300" b="0">
                <a:solidFill>
                  <a:srgbClr val="5C6472"/>
                </a:solidFill>
                <a:latin typeface="IBM Plex Mono"/>
              </a:rPr>
              <a:t>Post-Lakebridge reconciliation · root-cause analysis</a:t>
            </a:r>
          </a:p>
        </p:txBody>
      </p:sp>
      <p:sp>
        <p:nvSpPr>
          <p:cNvPr id="6" name="TextBox 5"/>
          <p:cNvSpPr txBox="1"/>
          <p:nvPr/>
        </p:nvSpPr>
        <p:spPr>
          <a:xfrm>
            <a:off x="822960" y="2468880"/>
            <a:ext cx="10515600" cy="2011680"/>
          </a:xfrm>
          <a:prstGeom prst="rect">
            <a:avLst/>
          </a:prstGeom>
          <a:noFill/>
        </p:spPr>
        <p:txBody>
          <a:bodyPr wrap="square" anchor="t" lIns="0" rIns="0" tIns="0" bIns="0">
            <a:spAutoFit/>
          </a:bodyPr>
          <a:lstStyle/>
          <a:p>
            <a:pPr algn="l">
              <a:lnSpc>
                <a:spcPct val="105000"/>
              </a:lnSpc>
              <a:spcAft>
                <a:spcPts val="400"/>
              </a:spcAft>
            </a:pPr>
            <a:r>
              <a:rPr sz="4000" b="1">
                <a:solidFill>
                  <a:srgbClr val="1B1E24"/>
                </a:solidFill>
                <a:latin typeface="Archivo"/>
              </a:rPr>
              <a:t>Reconcile tells you </a:t>
            </a:r>
            <a:r>
              <a:rPr sz="4000" b="1">
                <a:solidFill>
                  <a:srgbClr val="C56A2E"/>
                </a:solidFill>
                <a:latin typeface="Archivo"/>
              </a:rPr>
              <a:t>what</a:t>
            </a:r>
            <a:r>
              <a:rPr sz="4000" b="1">
                <a:solidFill>
                  <a:srgbClr val="1B1E24"/>
                </a:solidFill>
                <a:latin typeface="Archivo"/>
              </a:rPr>
              <a:t> differs.</a:t>
            </a:r>
          </a:p>
        </p:txBody>
      </p:sp>
      <p:sp>
        <p:nvSpPr>
          <p:cNvPr id="7" name="TextBox 6"/>
          <p:cNvSpPr txBox="1"/>
          <p:nvPr/>
        </p:nvSpPr>
        <p:spPr>
          <a:xfrm>
            <a:off x="822960" y="3291840"/>
            <a:ext cx="10515600" cy="1097280"/>
          </a:xfrm>
          <a:prstGeom prst="rect">
            <a:avLst/>
          </a:prstGeom>
          <a:noFill/>
        </p:spPr>
        <p:txBody>
          <a:bodyPr wrap="square" anchor="t" lIns="0" rIns="0" tIns="0" bIns="0">
            <a:spAutoFit/>
          </a:bodyPr>
          <a:lstStyle/>
          <a:p>
            <a:pPr algn="l">
              <a:lnSpc>
                <a:spcPct val="105000"/>
              </a:lnSpc>
              <a:spcAft>
                <a:spcPts val="400"/>
              </a:spcAft>
            </a:pPr>
            <a:r>
              <a:rPr sz="4000" b="1">
                <a:solidFill>
                  <a:srgbClr val="1B1E24"/>
                </a:solidFill>
                <a:latin typeface="Archivo"/>
              </a:rPr>
              <a:t>ReconResolve tells you </a:t>
            </a:r>
            <a:r>
              <a:rPr sz="4000" b="1">
                <a:solidFill>
                  <a:srgbClr val="C56A2E"/>
                </a:solidFill>
                <a:latin typeface="Archivo"/>
              </a:rPr>
              <a:t>why</a:t>
            </a:r>
            <a:r>
              <a:rPr sz="4000" b="1">
                <a:solidFill>
                  <a:srgbClr val="1B1E24"/>
                </a:solidFill>
                <a:latin typeface="Archivo"/>
              </a:rPr>
              <a:t> — and proves it.</a:t>
            </a:r>
          </a:p>
        </p:txBody>
      </p:sp>
      <p:sp>
        <p:nvSpPr>
          <p:cNvPr id="8" name="TextBox 7"/>
          <p:cNvSpPr txBox="1"/>
          <p:nvPr/>
        </p:nvSpPr>
        <p:spPr>
          <a:xfrm>
            <a:off x="822960" y="4526280"/>
            <a:ext cx="9875520" cy="1005840"/>
          </a:xfrm>
          <a:prstGeom prst="rect">
            <a:avLst/>
          </a:prstGeom>
          <a:noFill/>
        </p:spPr>
        <p:txBody>
          <a:bodyPr wrap="square" anchor="t" lIns="0" rIns="0" tIns="0" bIns="0">
            <a:spAutoFit/>
          </a:bodyPr>
          <a:lstStyle/>
          <a:p>
            <a:pPr algn="l">
              <a:lnSpc>
                <a:spcPct val="120000"/>
              </a:lnSpc>
              <a:spcAft>
                <a:spcPts val="400"/>
              </a:spcAft>
            </a:pPr>
            <a:r>
              <a:rPr sz="1500" b="0">
                <a:solidFill>
                  <a:srgbClr val="5C6472"/>
                </a:solidFill>
                <a:latin typeface="IBM Plex Sans"/>
              </a:rPr>
              <a:t>Reads the migrated SQL, pinpoints the exact transform and the part that broke, and confirms every verdict with a live query — deterministic by default, with an agentic layer for the hard long tail.</a:t>
            </a:r>
          </a:p>
        </p:txBody>
      </p:sp>
      <p:sp>
        <p:nvSpPr>
          <p:cNvPr id="9" name="Rounded Rectangle 8"/>
          <p:cNvSpPr/>
          <p:nvPr/>
        </p:nvSpPr>
        <p:spPr>
          <a:xfrm>
            <a:off x="822960" y="5669280"/>
            <a:ext cx="1152144" cy="457200"/>
          </a:xfrm>
          <a:prstGeom prst="roundRect">
            <a:avLst>
              <a:gd name="adj" fmla="val 50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5669280"/>
            <a:ext cx="1152144" cy="457200"/>
          </a:xfrm>
          <a:prstGeom prst="rect">
            <a:avLst/>
          </a:prstGeom>
          <a:noFill/>
        </p:spPr>
        <p:txBody>
          <a:bodyPr wrap="square" anchor="ctr" lIns="0" rIns="0" tIns="0" bIns="0">
            <a:spAutoFit/>
          </a:bodyPr>
          <a:lstStyle/>
          <a:p>
            <a:pPr algn="ctr">
              <a:lnSpc>
                <a:spcPct val="100000"/>
              </a:lnSpc>
              <a:spcAft>
                <a:spcPts val="400"/>
              </a:spcAft>
            </a:pPr>
            <a:r>
              <a:rPr sz="1200" b="0">
                <a:solidFill>
                  <a:srgbClr val="5C6472"/>
                </a:solidFill>
                <a:latin typeface="IBM Plex Mono"/>
              </a:rPr>
              <a:t>analyze</a:t>
            </a:r>
          </a:p>
        </p:txBody>
      </p:sp>
      <p:sp>
        <p:nvSpPr>
          <p:cNvPr id="11" name="TextBox 10"/>
          <p:cNvSpPr txBox="1"/>
          <p:nvPr/>
        </p:nvSpPr>
        <p:spPr>
          <a:xfrm>
            <a:off x="2011680" y="5669280"/>
            <a:ext cx="201168" cy="457200"/>
          </a:xfrm>
          <a:prstGeom prst="rect">
            <a:avLst/>
          </a:prstGeom>
          <a:noFill/>
        </p:spPr>
        <p:txBody>
          <a:bodyPr wrap="square" anchor="ctr" lIns="0" rIns="0" tIns="0" bIns="0">
            <a:spAutoFit/>
          </a:bodyPr>
          <a:lstStyle/>
          <a:p>
            <a:pPr algn="ctr">
              <a:lnSpc>
                <a:spcPct val="100000"/>
              </a:lnSpc>
              <a:spcAft>
                <a:spcPts val="400"/>
              </a:spcAft>
            </a:pPr>
            <a:r>
              <a:rPr sz="1300" b="0">
                <a:solidFill>
                  <a:srgbClr val="E4E1D9"/>
                </a:solidFill>
                <a:latin typeface="IBM Plex Sans"/>
              </a:rPr>
              <a:t>→</a:t>
            </a:r>
          </a:p>
        </p:txBody>
      </p:sp>
      <p:sp>
        <p:nvSpPr>
          <p:cNvPr id="12" name="Rounded Rectangle 11"/>
          <p:cNvSpPr/>
          <p:nvPr/>
        </p:nvSpPr>
        <p:spPr>
          <a:xfrm>
            <a:off x="2231136" y="5669280"/>
            <a:ext cx="1389888" cy="457200"/>
          </a:xfrm>
          <a:prstGeom prst="roundRect">
            <a:avLst>
              <a:gd name="adj" fmla="val 50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31136" y="5669280"/>
            <a:ext cx="1389888" cy="457200"/>
          </a:xfrm>
          <a:prstGeom prst="rect">
            <a:avLst/>
          </a:prstGeom>
          <a:noFill/>
        </p:spPr>
        <p:txBody>
          <a:bodyPr wrap="square" anchor="ctr" lIns="0" rIns="0" tIns="0" bIns="0">
            <a:spAutoFit/>
          </a:bodyPr>
          <a:lstStyle/>
          <a:p>
            <a:pPr algn="ctr">
              <a:lnSpc>
                <a:spcPct val="100000"/>
              </a:lnSpc>
              <a:spcAft>
                <a:spcPts val="400"/>
              </a:spcAft>
            </a:pPr>
            <a:r>
              <a:rPr sz="1200" b="0">
                <a:solidFill>
                  <a:srgbClr val="5C6472"/>
                </a:solidFill>
                <a:latin typeface="IBM Plex Mono"/>
              </a:rPr>
              <a:t>transpile</a:t>
            </a:r>
          </a:p>
        </p:txBody>
      </p:sp>
      <p:sp>
        <p:nvSpPr>
          <p:cNvPr id="14" name="TextBox 13"/>
          <p:cNvSpPr txBox="1"/>
          <p:nvPr/>
        </p:nvSpPr>
        <p:spPr>
          <a:xfrm>
            <a:off x="3657600" y="5669280"/>
            <a:ext cx="201168" cy="457200"/>
          </a:xfrm>
          <a:prstGeom prst="rect">
            <a:avLst/>
          </a:prstGeom>
          <a:noFill/>
        </p:spPr>
        <p:txBody>
          <a:bodyPr wrap="square" anchor="ctr" lIns="0" rIns="0" tIns="0" bIns="0">
            <a:spAutoFit/>
          </a:bodyPr>
          <a:lstStyle/>
          <a:p>
            <a:pPr algn="ctr">
              <a:lnSpc>
                <a:spcPct val="100000"/>
              </a:lnSpc>
              <a:spcAft>
                <a:spcPts val="400"/>
              </a:spcAft>
            </a:pPr>
            <a:r>
              <a:rPr sz="1300" b="0">
                <a:solidFill>
                  <a:srgbClr val="E4E1D9"/>
                </a:solidFill>
                <a:latin typeface="IBM Plex Sans"/>
              </a:rPr>
              <a:t>→</a:t>
            </a:r>
          </a:p>
        </p:txBody>
      </p:sp>
      <p:sp>
        <p:nvSpPr>
          <p:cNvPr id="15" name="Rounded Rectangle 14"/>
          <p:cNvSpPr/>
          <p:nvPr/>
        </p:nvSpPr>
        <p:spPr>
          <a:xfrm>
            <a:off x="3877056" y="5669280"/>
            <a:ext cx="1389888" cy="457200"/>
          </a:xfrm>
          <a:prstGeom prst="roundRect">
            <a:avLst>
              <a:gd name="adj" fmla="val 50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7056" y="5669280"/>
            <a:ext cx="1389888" cy="457200"/>
          </a:xfrm>
          <a:prstGeom prst="rect">
            <a:avLst/>
          </a:prstGeom>
          <a:noFill/>
        </p:spPr>
        <p:txBody>
          <a:bodyPr wrap="square" anchor="ctr" lIns="0" rIns="0" tIns="0" bIns="0">
            <a:spAutoFit/>
          </a:bodyPr>
          <a:lstStyle/>
          <a:p>
            <a:pPr algn="ctr">
              <a:lnSpc>
                <a:spcPct val="100000"/>
              </a:lnSpc>
              <a:spcAft>
                <a:spcPts val="400"/>
              </a:spcAft>
            </a:pPr>
            <a:r>
              <a:rPr sz="1200" b="0">
                <a:solidFill>
                  <a:srgbClr val="5C6472"/>
                </a:solidFill>
                <a:latin typeface="IBM Plex Mono"/>
              </a:rPr>
              <a:t>reconcile</a:t>
            </a:r>
          </a:p>
        </p:txBody>
      </p:sp>
      <p:sp>
        <p:nvSpPr>
          <p:cNvPr id="17" name="TextBox 16"/>
          <p:cNvSpPr txBox="1"/>
          <p:nvPr/>
        </p:nvSpPr>
        <p:spPr>
          <a:xfrm>
            <a:off x="5303520" y="5669280"/>
            <a:ext cx="201168" cy="457200"/>
          </a:xfrm>
          <a:prstGeom prst="rect">
            <a:avLst/>
          </a:prstGeom>
          <a:noFill/>
        </p:spPr>
        <p:txBody>
          <a:bodyPr wrap="square" anchor="ctr" lIns="0" rIns="0" tIns="0" bIns="0">
            <a:spAutoFit/>
          </a:bodyPr>
          <a:lstStyle/>
          <a:p>
            <a:pPr algn="ctr">
              <a:lnSpc>
                <a:spcPct val="100000"/>
              </a:lnSpc>
              <a:spcAft>
                <a:spcPts val="400"/>
              </a:spcAft>
            </a:pPr>
            <a:r>
              <a:rPr sz="1300" b="0">
                <a:solidFill>
                  <a:srgbClr val="E4E1D9"/>
                </a:solidFill>
                <a:latin typeface="IBM Plex Sans"/>
              </a:rPr>
              <a:t>→</a:t>
            </a:r>
          </a:p>
        </p:txBody>
      </p:sp>
      <p:sp>
        <p:nvSpPr>
          <p:cNvPr id="18" name="Rounded Rectangle 17"/>
          <p:cNvSpPr/>
          <p:nvPr/>
        </p:nvSpPr>
        <p:spPr>
          <a:xfrm>
            <a:off x="5522976" y="5669280"/>
            <a:ext cx="2459736" cy="457200"/>
          </a:xfrm>
          <a:prstGeom prst="roundRect">
            <a:avLst>
              <a:gd name="adj" fmla="val 50000"/>
            </a:avLst>
          </a:prstGeom>
          <a:solidFill>
            <a:srgbClr val="F6E9DD"/>
          </a:solidFill>
          <a:ln w="12700">
            <a:solidFill>
              <a:srgbClr val="C5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22976" y="5669280"/>
            <a:ext cx="2459736" cy="457200"/>
          </a:xfrm>
          <a:prstGeom prst="rect">
            <a:avLst/>
          </a:prstGeom>
          <a:noFill/>
        </p:spPr>
        <p:txBody>
          <a:bodyPr wrap="square" anchor="ctr" lIns="0" rIns="0" tIns="0" bIns="0">
            <a:spAutoFit/>
          </a:bodyPr>
          <a:lstStyle/>
          <a:p>
            <a:pPr algn="ctr">
              <a:lnSpc>
                <a:spcPct val="100000"/>
              </a:lnSpc>
              <a:spcAft>
                <a:spcPts val="400"/>
              </a:spcAft>
            </a:pPr>
            <a:r>
              <a:rPr sz="1200" b="1">
                <a:solidFill>
                  <a:srgbClr val="1B1E24"/>
                </a:solidFill>
                <a:latin typeface="IBM Plex Mono"/>
              </a:rPr>
              <a:t>RCA · ReconResolve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058400" cy="274320"/>
          </a:xfrm>
          <a:prstGeom prst="rect">
            <a:avLst/>
          </a:prstGeom>
          <a:noFill/>
        </p:spPr>
        <p:txBody>
          <a:bodyPr wrap="square" anchor="t" lIns="0" rIns="0" tIns="0" bIns="0">
            <a:spAutoFit/>
          </a:bodyPr>
          <a:lstStyle/>
          <a:p>
            <a:pPr algn="l">
              <a:lnSpc>
                <a:spcPct val="100000"/>
              </a:lnSpc>
              <a:spcAft>
                <a:spcPts val="400"/>
              </a:spcAft>
            </a:pPr>
            <a:r>
              <a:rPr sz="1200" b="1">
                <a:solidFill>
                  <a:srgbClr val="C56A2E"/>
                </a:solidFill>
                <a:latin typeface="IBM Plex Mono"/>
              </a:rPr>
              <a:t>THE GAP</a:t>
            </a:r>
          </a:p>
        </p:txBody>
      </p:sp>
      <p:sp>
        <p:nvSpPr>
          <p:cNvPr id="5" name="TextBox 4"/>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Aft>
                <a:spcPts val="400"/>
              </a:spcAft>
            </a:pPr>
            <a:r>
              <a:rPr sz="2600" b="1">
                <a:solidFill>
                  <a:srgbClr val="1B1E24"/>
                </a:solidFill>
                <a:latin typeface="Archivo"/>
              </a:rPr>
              <a:t>Between “the numbers don’t match” and a fix, there’s a week of manual work.</a:t>
            </a:r>
          </a:p>
        </p:txBody>
      </p:sp>
      <p:sp>
        <p:nvSpPr>
          <p:cNvPr id="6" name="Rounded Rectangle 5"/>
          <p:cNvSpPr/>
          <p:nvPr/>
        </p:nvSpPr>
        <p:spPr>
          <a:xfrm>
            <a:off x="822960" y="2286000"/>
            <a:ext cx="5074920" cy="3108960"/>
          </a:xfrm>
          <a:prstGeom prst="roundRect">
            <a:avLst>
              <a:gd name="adj" fmla="val 4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286000"/>
            <a:ext cx="82296" cy="3108960"/>
          </a:xfrm>
          <a:prstGeom prst="rect">
            <a:avLst/>
          </a:prstGeom>
          <a:solidFill>
            <a:srgbClr val="C5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560320"/>
            <a:ext cx="4572000" cy="274320"/>
          </a:xfrm>
          <a:prstGeom prst="rect">
            <a:avLst/>
          </a:prstGeom>
          <a:noFill/>
        </p:spPr>
        <p:txBody>
          <a:bodyPr wrap="square" anchor="t" lIns="0" rIns="0" tIns="0" bIns="0">
            <a:spAutoFit/>
          </a:bodyPr>
          <a:lstStyle/>
          <a:p>
            <a:pPr algn="l">
              <a:lnSpc>
                <a:spcPct val="100000"/>
              </a:lnSpc>
              <a:spcAft>
                <a:spcPts val="400"/>
              </a:spcAft>
            </a:pPr>
            <a:r>
              <a:rPr sz="1100" b="1">
                <a:solidFill>
                  <a:srgbClr val="5C6472"/>
                </a:solidFill>
                <a:latin typeface="IBM Plex Mono"/>
              </a:rPr>
              <a:t>TODAY · LAKEBRIDGE RECONCILE</a:t>
            </a:r>
          </a:p>
        </p:txBody>
      </p:sp>
      <p:sp>
        <p:nvSpPr>
          <p:cNvPr id="9" name="TextBox 8"/>
          <p:cNvSpPr txBox="1"/>
          <p:nvPr/>
        </p:nvSpPr>
        <p:spPr>
          <a:xfrm>
            <a:off x="1143000" y="2926080"/>
            <a:ext cx="4572000" cy="548640"/>
          </a:xfrm>
          <a:prstGeom prst="rect">
            <a:avLst/>
          </a:prstGeom>
          <a:noFill/>
        </p:spPr>
        <p:txBody>
          <a:bodyPr wrap="square" anchor="t" lIns="0" rIns="0" tIns="0" bIns="0">
            <a:spAutoFit/>
          </a:bodyPr>
          <a:lstStyle/>
          <a:p>
            <a:pPr algn="l">
              <a:lnSpc>
                <a:spcPct val="100000"/>
              </a:lnSpc>
              <a:spcAft>
                <a:spcPts val="400"/>
              </a:spcAft>
            </a:pPr>
            <a:r>
              <a:rPr sz="2000" b="1">
                <a:solidFill>
                  <a:srgbClr val="1B1E24"/>
                </a:solidFill>
                <a:latin typeface="Archivo"/>
              </a:rPr>
              <a:t>A list of differences</a:t>
            </a:r>
          </a:p>
        </p:txBody>
      </p:sp>
      <p:sp>
        <p:nvSpPr>
          <p:cNvPr id="10" name="TextBox 9"/>
          <p:cNvSpPr txBox="1"/>
          <p:nvPr/>
        </p:nvSpPr>
        <p:spPr>
          <a:xfrm>
            <a:off x="1143000" y="3611880"/>
            <a:ext cx="4526280" cy="1737360"/>
          </a:xfrm>
          <a:prstGeom prst="rect">
            <a:avLst/>
          </a:prstGeom>
          <a:noFill/>
        </p:spPr>
        <p:txBody>
          <a:bodyPr wrap="square" anchor="t" lIns="0" rIns="0" tIns="0" bIns="0">
            <a:spAutoFit/>
          </a:bodyPr>
          <a:lstStyle/>
          <a:p>
            <a:pPr algn="l">
              <a:lnSpc>
                <a:spcPct val="120000"/>
              </a:lnSpc>
              <a:spcAft>
                <a:spcPts val="400"/>
              </a:spcAft>
            </a:pPr>
            <a:r>
              <a:rPr sz="1300" b="0">
                <a:solidFill>
                  <a:srgbClr val="5C6472"/>
                </a:solidFill>
                <a:latin typeface="IBM Plex Sans"/>
              </a:rPr>
              <a:t>Reconcile reports which columns and rows differ — e.g. unit_price differs on 1,844,309 of 2,000,000 rows. Correct and essential, but it stops at the symptom. An engineer still has to open the ETL, read the transform, hypothesize, and write queries to prove it — days per table.</a:t>
            </a:r>
          </a:p>
        </p:txBody>
      </p:sp>
      <p:sp>
        <p:nvSpPr>
          <p:cNvPr id="11" name="Rounded Rectangle 10"/>
          <p:cNvSpPr/>
          <p:nvPr/>
        </p:nvSpPr>
        <p:spPr>
          <a:xfrm>
            <a:off x="6263640" y="2286000"/>
            <a:ext cx="5074920" cy="3108960"/>
          </a:xfrm>
          <a:prstGeom prst="roundRect">
            <a:avLst>
              <a:gd name="adj" fmla="val 4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2286000"/>
            <a:ext cx="82296" cy="310896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560320"/>
            <a:ext cx="4572000" cy="274320"/>
          </a:xfrm>
          <a:prstGeom prst="rect">
            <a:avLst/>
          </a:prstGeom>
          <a:noFill/>
        </p:spPr>
        <p:txBody>
          <a:bodyPr wrap="square" anchor="t" lIns="0" rIns="0" tIns="0" bIns="0">
            <a:spAutoFit/>
          </a:bodyPr>
          <a:lstStyle/>
          <a:p>
            <a:pPr algn="l">
              <a:lnSpc>
                <a:spcPct val="100000"/>
              </a:lnSpc>
              <a:spcAft>
                <a:spcPts val="400"/>
              </a:spcAft>
            </a:pPr>
            <a:r>
              <a:rPr sz="1100" b="1">
                <a:solidFill>
                  <a:srgbClr val="5C6472"/>
                </a:solidFill>
                <a:latin typeface="IBM Plex Mono"/>
              </a:rPr>
              <a:t>WITH RECONRESOLVE</a:t>
            </a:r>
          </a:p>
        </p:txBody>
      </p:sp>
      <p:sp>
        <p:nvSpPr>
          <p:cNvPr id="14" name="TextBox 13"/>
          <p:cNvSpPr txBox="1"/>
          <p:nvPr/>
        </p:nvSpPr>
        <p:spPr>
          <a:xfrm>
            <a:off x="6583680" y="2926080"/>
            <a:ext cx="4572000" cy="548640"/>
          </a:xfrm>
          <a:prstGeom prst="rect">
            <a:avLst/>
          </a:prstGeom>
          <a:noFill/>
        </p:spPr>
        <p:txBody>
          <a:bodyPr wrap="square" anchor="t" lIns="0" rIns="0" tIns="0" bIns="0">
            <a:spAutoFit/>
          </a:bodyPr>
          <a:lstStyle/>
          <a:p>
            <a:pPr algn="l">
              <a:lnSpc>
                <a:spcPct val="100000"/>
              </a:lnSpc>
              <a:spcAft>
                <a:spcPts val="400"/>
              </a:spcAft>
            </a:pPr>
            <a:r>
              <a:rPr sz="2000" b="1">
                <a:solidFill>
                  <a:srgbClr val="1B1E24"/>
                </a:solidFill>
                <a:latin typeface="Archivo"/>
              </a:rPr>
              <a:t>The mechanism, the culprit, the proof</a:t>
            </a:r>
          </a:p>
        </p:txBody>
      </p:sp>
      <p:sp>
        <p:nvSpPr>
          <p:cNvPr id="15" name="TextBox 14"/>
          <p:cNvSpPr txBox="1"/>
          <p:nvPr/>
        </p:nvSpPr>
        <p:spPr>
          <a:xfrm>
            <a:off x="6583680" y="3611880"/>
            <a:ext cx="4526280" cy="1737360"/>
          </a:xfrm>
          <a:prstGeom prst="rect">
            <a:avLst/>
          </a:prstGeom>
          <a:noFill/>
        </p:spPr>
        <p:txBody>
          <a:bodyPr wrap="square" anchor="t" lIns="0" rIns="0" tIns="0" bIns="0">
            <a:spAutoFit/>
          </a:bodyPr>
          <a:lstStyle/>
          <a:p>
            <a:pPr algn="l">
              <a:lnSpc>
                <a:spcPct val="120000"/>
              </a:lnSpc>
              <a:spcAft>
                <a:spcPts val="400"/>
              </a:spcAft>
            </a:pPr>
            <a:r>
              <a:rPr sz="1300" b="0">
                <a:solidFill>
                  <a:srgbClr val="5C6472"/>
                </a:solidFill>
                <a:latin typeface="IBM Plex Sans"/>
              </a:rPr>
              <a:t>For every difference: the category, the exact migrated derivation, the ⚠️ likely-culprit sub-expression, the source script, a runnable confirming query, and a suggested fix — as a reviewer-ready notebook, in minutes.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2B5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058400" cy="274320"/>
          </a:xfrm>
          <a:prstGeom prst="rect">
            <a:avLst/>
          </a:prstGeom>
          <a:noFill/>
        </p:spPr>
        <p:txBody>
          <a:bodyPr wrap="square" anchor="t" lIns="0" rIns="0" tIns="0" bIns="0">
            <a:spAutoFit/>
          </a:bodyPr>
          <a:lstStyle/>
          <a:p>
            <a:pPr algn="l">
              <a:lnSpc>
                <a:spcPct val="100000"/>
              </a:lnSpc>
              <a:spcAft>
                <a:spcPts val="400"/>
              </a:spcAft>
            </a:pPr>
            <a:r>
              <a:rPr sz="1200" b="1">
                <a:solidFill>
                  <a:srgbClr val="2B5B8A"/>
                </a:solidFill>
                <a:latin typeface="IBM Plex Mono"/>
              </a:rPr>
              <a:t>HOW IT WORKS</a:t>
            </a:r>
          </a:p>
        </p:txBody>
      </p:sp>
      <p:sp>
        <p:nvSpPr>
          <p:cNvPr id="5" name="TextBox 4"/>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Aft>
                <a:spcPts val="400"/>
              </a:spcAft>
            </a:pPr>
            <a:r>
              <a:rPr sz="2500" b="1">
                <a:solidFill>
                  <a:srgbClr val="1B1E24"/>
                </a:solidFill>
                <a:latin typeface="Archivo"/>
              </a:rPr>
              <a:t>Two tiers. Every verdict is backed by a query — never a bare model guess.</a:t>
            </a:r>
          </a:p>
        </p:txBody>
      </p:sp>
      <p:sp>
        <p:nvSpPr>
          <p:cNvPr id="6" name="Rounded Rectangle 5"/>
          <p:cNvSpPr/>
          <p:nvPr/>
        </p:nvSpPr>
        <p:spPr>
          <a:xfrm>
            <a:off x="822960" y="2194560"/>
            <a:ext cx="5074920" cy="4023360"/>
          </a:xfrm>
          <a:prstGeom prst="roundRect">
            <a:avLst>
              <a:gd name="adj" fmla="val 3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43000" y="2468880"/>
            <a:ext cx="2377440" cy="384048"/>
          </a:xfrm>
          <a:prstGeom prst="roundRect">
            <a:avLst>
              <a:gd name="adj" fmla="val 50000"/>
            </a:avLst>
          </a:prstGeom>
          <a:solidFill>
            <a:srgbClr val="E7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468880"/>
            <a:ext cx="2377440" cy="384048"/>
          </a:xfrm>
          <a:prstGeom prst="rect">
            <a:avLst/>
          </a:prstGeom>
          <a:noFill/>
        </p:spPr>
        <p:txBody>
          <a:bodyPr wrap="square" anchor="ctr" lIns="0" rIns="0" tIns="0" bIns="0">
            <a:spAutoFit/>
          </a:bodyPr>
          <a:lstStyle/>
          <a:p>
            <a:pPr algn="ctr">
              <a:lnSpc>
                <a:spcPct val="100000"/>
              </a:lnSpc>
              <a:spcAft>
                <a:spcPts val="400"/>
              </a:spcAft>
            </a:pPr>
            <a:r>
              <a:rPr sz="1050" b="1">
                <a:solidFill>
                  <a:srgbClr val="2B5B8A"/>
                </a:solidFill>
                <a:latin typeface="IBM Plex Mono"/>
              </a:rPr>
              <a:t>TIER 1 · DETERMINISTIC</a:t>
            </a:r>
          </a:p>
        </p:txBody>
      </p:sp>
      <p:sp>
        <p:nvSpPr>
          <p:cNvPr id="9" name="TextBox 8"/>
          <p:cNvSpPr txBox="1"/>
          <p:nvPr/>
        </p:nvSpPr>
        <p:spPr>
          <a:xfrm>
            <a:off x="1143000" y="2971800"/>
            <a:ext cx="4572000" cy="457200"/>
          </a:xfrm>
          <a:prstGeom prst="rect">
            <a:avLst/>
          </a:prstGeom>
          <a:noFill/>
        </p:spPr>
        <p:txBody>
          <a:bodyPr wrap="square" anchor="t" lIns="0" rIns="0" tIns="0" bIns="0">
            <a:spAutoFit/>
          </a:bodyPr>
          <a:lstStyle/>
          <a:p>
            <a:pPr algn="l">
              <a:lnSpc>
                <a:spcPct val="100000"/>
              </a:lnSpc>
              <a:spcAft>
                <a:spcPts val="400"/>
              </a:spcAft>
            </a:pPr>
            <a:r>
              <a:rPr sz="1900" b="1">
                <a:solidFill>
                  <a:srgbClr val="1B1E24"/>
                </a:solidFill>
                <a:latin typeface="Archivo"/>
              </a:rPr>
              <a:t>Rule-based, query-confirmed</a:t>
            </a:r>
          </a:p>
        </p:txBody>
      </p:sp>
      <p:sp>
        <p:nvSpPr>
          <p:cNvPr id="10" name="TextBox 9"/>
          <p:cNvSpPr txBox="1"/>
          <p:nvPr/>
        </p:nvSpPr>
        <p:spPr>
          <a:xfrm>
            <a:off x="1143000" y="3474720"/>
            <a:ext cx="4572000" cy="274320"/>
          </a:xfrm>
          <a:prstGeom prst="rect">
            <a:avLst/>
          </a:prstGeom>
          <a:noFill/>
        </p:spPr>
        <p:txBody>
          <a:bodyPr wrap="square" anchor="t" lIns="0" rIns="0" tIns="0" bIns="0">
            <a:spAutoFit/>
          </a:bodyPr>
          <a:lstStyle/>
          <a:p>
            <a:pPr algn="l">
              <a:lnSpc>
                <a:spcPct val="100000"/>
              </a:lnSpc>
              <a:spcAft>
                <a:spcPts val="400"/>
              </a:spcAft>
            </a:pPr>
            <a:r>
              <a:rPr sz="1250" b="0">
                <a:solidFill>
                  <a:srgbClr val="5C6472"/>
                </a:solidFill>
                <a:latin typeface="IBM Plex Sans"/>
              </a:rPr>
              <a:t>No LLM. Reproducible and auditable — the default.</a:t>
            </a:r>
          </a:p>
        </p:txBody>
      </p:sp>
      <p:sp>
        <p:nvSpPr>
          <p:cNvPr id="11" name="TextBox 10"/>
          <p:cNvSpPr txBox="1"/>
          <p:nvPr/>
        </p:nvSpPr>
        <p:spPr>
          <a:xfrm>
            <a:off x="1143000" y="3886200"/>
            <a:ext cx="4526280" cy="1737360"/>
          </a:xfrm>
          <a:prstGeom prst="rect">
            <a:avLst/>
          </a:prstGeom>
          <a:noFill/>
        </p:spPr>
        <p:txBody>
          <a:bodyPr wrap="square" anchor="t" lIns="0" rIns="0" tIns="0" bIns="0">
            <a:spAutoFit/>
          </a:bodyPr>
          <a:lstStyle/>
          <a:p>
            <a:pPr algn="l">
              <a:lnSpc>
                <a:spcPct val="110000"/>
              </a:lnSpc>
              <a:spcAft>
                <a:spcPts val="400"/>
              </a:spcAft>
            </a:pPr>
            <a:r>
              <a:rPr sz="1250" b="0">
                <a:solidFill>
                  <a:srgbClr val="1B1E24"/>
                </a:solidFill>
                <a:latin typeface="IBM Plex Sans"/>
              </a:rPr>
              <a:t>•  Per-dialect probes classify the mechanism</a:t>
            </a:r>
          </a:p>
          <a:p>
            <a:pPr algn="l">
              <a:lnSpc>
                <a:spcPct val="110000"/>
              </a:lnSpc>
              <a:spcAft>
                <a:spcPts val="700"/>
              </a:spcAft>
            </a:pPr>
            <a:r>
              <a:rPr sz="1250" b="0">
                <a:solidFill>
                  <a:srgbClr val="1B1E24"/>
                </a:solidFill>
                <a:latin typeface="IBM Plex Sans"/>
              </a:rPr>
              <a:t>•  Parses migrated SQL → transformation logic + culprit sub-expression</a:t>
            </a:r>
          </a:p>
          <a:p>
            <a:pPr algn="l">
              <a:lnSpc>
                <a:spcPct val="110000"/>
              </a:lnSpc>
              <a:spcAft>
                <a:spcPts val="700"/>
              </a:spcAft>
            </a:pPr>
            <a:r>
              <a:rPr sz="1250" b="0">
                <a:solidFill>
                  <a:srgbClr val="1B1E24"/>
                </a:solidFill>
                <a:latin typeface="IBM Plex Sans"/>
              </a:rPr>
              <a:t>•  One confirming query per finding; verdict + confidence from the result</a:t>
            </a:r>
          </a:p>
          <a:p>
            <a:pPr algn="l">
              <a:lnSpc>
                <a:spcPct val="110000"/>
              </a:lnSpc>
              <a:spcAft>
                <a:spcPts val="700"/>
              </a:spcAft>
            </a:pPr>
            <a:r>
              <a:rPr sz="1250" b="0">
                <a:solidFill>
                  <a:srgbClr val="1B1E24"/>
                </a:solidFill>
                <a:latin typeface="IBM Plex Sans"/>
              </a:rPr>
              <a:t>•  Threshold-aware, schema &amp; aggregate RCA, suggested fixes</a:t>
            </a:r>
          </a:p>
        </p:txBody>
      </p:sp>
      <p:sp>
        <p:nvSpPr>
          <p:cNvPr id="12" name="Rounded Rectangle 11"/>
          <p:cNvSpPr/>
          <p:nvPr/>
        </p:nvSpPr>
        <p:spPr>
          <a:xfrm>
            <a:off x="1143000" y="5623560"/>
            <a:ext cx="4434840" cy="457200"/>
          </a:xfrm>
          <a:prstGeom prst="roundRect">
            <a:avLst>
              <a:gd name="adj" fmla="val 10000"/>
            </a:avLst>
          </a:prstGeom>
          <a:solidFill>
            <a:srgbClr val="EFE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5623560"/>
            <a:ext cx="4206240" cy="457200"/>
          </a:xfrm>
          <a:prstGeom prst="rect">
            <a:avLst/>
          </a:prstGeom>
          <a:noFill/>
        </p:spPr>
        <p:txBody>
          <a:bodyPr wrap="square" anchor="ctr" lIns="0" rIns="0" tIns="0" bIns="0">
            <a:spAutoFit/>
          </a:bodyPr>
          <a:lstStyle/>
          <a:p>
            <a:pPr algn="l">
              <a:lnSpc>
                <a:spcPct val="100000"/>
              </a:lnSpc>
              <a:spcAft>
                <a:spcPts val="400"/>
              </a:spcAft>
            </a:pPr>
            <a:r>
              <a:rPr sz="1100" b="0">
                <a:solidFill>
                  <a:srgbClr val="5C6472"/>
                </a:solidFill>
                <a:latin typeface="IBM Plex Sans"/>
              </a:rPr>
              <a:t>Runs anywhere — no Genie, no model, no external calls.</a:t>
            </a:r>
          </a:p>
        </p:txBody>
      </p:sp>
      <p:sp>
        <p:nvSpPr>
          <p:cNvPr id="14" name="Rounded Rectangle 13"/>
          <p:cNvSpPr/>
          <p:nvPr/>
        </p:nvSpPr>
        <p:spPr>
          <a:xfrm>
            <a:off x="6263640" y="2194560"/>
            <a:ext cx="5074920" cy="4023360"/>
          </a:xfrm>
          <a:prstGeom prst="roundRect">
            <a:avLst>
              <a:gd name="adj" fmla="val 3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0" y="2468880"/>
            <a:ext cx="2377440" cy="384048"/>
          </a:xfrm>
          <a:prstGeom prst="roundRect">
            <a:avLst>
              <a:gd name="adj" fmla="val 50000"/>
            </a:avLst>
          </a:prstGeom>
          <a:solidFill>
            <a:srgbClr val="EFE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2468880"/>
            <a:ext cx="2377440" cy="384048"/>
          </a:xfrm>
          <a:prstGeom prst="rect">
            <a:avLst/>
          </a:prstGeom>
          <a:noFill/>
        </p:spPr>
        <p:txBody>
          <a:bodyPr wrap="square" anchor="ctr" lIns="0" rIns="0" tIns="0" bIns="0">
            <a:spAutoFit/>
          </a:bodyPr>
          <a:lstStyle/>
          <a:p>
            <a:pPr algn="ctr">
              <a:lnSpc>
                <a:spcPct val="100000"/>
              </a:lnSpc>
              <a:spcAft>
                <a:spcPts val="400"/>
              </a:spcAft>
            </a:pPr>
            <a:r>
              <a:rPr sz="1050" b="1">
                <a:solidFill>
                  <a:srgbClr val="7E4CA8"/>
                </a:solidFill>
                <a:latin typeface="IBM Plex Mono"/>
              </a:rPr>
              <a:t>TIER 2 · AGENTIC</a:t>
            </a:r>
          </a:p>
        </p:txBody>
      </p:sp>
      <p:sp>
        <p:nvSpPr>
          <p:cNvPr id="17" name="TextBox 16"/>
          <p:cNvSpPr txBox="1"/>
          <p:nvPr/>
        </p:nvSpPr>
        <p:spPr>
          <a:xfrm>
            <a:off x="6583680" y="2971800"/>
            <a:ext cx="4572000" cy="457200"/>
          </a:xfrm>
          <a:prstGeom prst="rect">
            <a:avLst/>
          </a:prstGeom>
          <a:noFill/>
        </p:spPr>
        <p:txBody>
          <a:bodyPr wrap="square" anchor="t" lIns="0" rIns="0" tIns="0" bIns="0">
            <a:spAutoFit/>
          </a:bodyPr>
          <a:lstStyle/>
          <a:p>
            <a:pPr algn="l">
              <a:lnSpc>
                <a:spcPct val="100000"/>
              </a:lnSpc>
              <a:spcAft>
                <a:spcPts val="400"/>
              </a:spcAft>
            </a:pPr>
            <a:r>
              <a:rPr sz="1900" b="1">
                <a:solidFill>
                  <a:srgbClr val="1B1E24"/>
                </a:solidFill>
                <a:latin typeface="Archivo"/>
              </a:rPr>
              <a:t>Foundation-model, query-gated</a:t>
            </a:r>
          </a:p>
        </p:txBody>
      </p:sp>
      <p:sp>
        <p:nvSpPr>
          <p:cNvPr id="18" name="TextBox 17"/>
          <p:cNvSpPr txBox="1"/>
          <p:nvPr/>
        </p:nvSpPr>
        <p:spPr>
          <a:xfrm>
            <a:off x="6583680" y="3474720"/>
            <a:ext cx="4572000" cy="274320"/>
          </a:xfrm>
          <a:prstGeom prst="rect">
            <a:avLst/>
          </a:prstGeom>
          <a:noFill/>
        </p:spPr>
        <p:txBody>
          <a:bodyPr wrap="square" anchor="t" lIns="0" rIns="0" tIns="0" bIns="0">
            <a:spAutoFit/>
          </a:bodyPr>
          <a:lstStyle/>
          <a:p>
            <a:pPr algn="l">
              <a:lnSpc>
                <a:spcPct val="100000"/>
              </a:lnSpc>
              <a:spcAft>
                <a:spcPts val="400"/>
              </a:spcAft>
            </a:pPr>
            <a:r>
              <a:rPr sz="1250" b="0">
                <a:solidFill>
                  <a:srgbClr val="5C6472"/>
                </a:solidFill>
                <a:latin typeface="IBM Plex Sans"/>
              </a:rPr>
              <a:t>Only the residual the rules can’t name. Optional.</a:t>
            </a:r>
          </a:p>
        </p:txBody>
      </p:sp>
      <p:sp>
        <p:nvSpPr>
          <p:cNvPr id="19" name="TextBox 18"/>
          <p:cNvSpPr txBox="1"/>
          <p:nvPr/>
        </p:nvSpPr>
        <p:spPr>
          <a:xfrm>
            <a:off x="6583680" y="3886200"/>
            <a:ext cx="4526280" cy="1737360"/>
          </a:xfrm>
          <a:prstGeom prst="rect">
            <a:avLst/>
          </a:prstGeom>
          <a:noFill/>
        </p:spPr>
        <p:txBody>
          <a:bodyPr wrap="square" anchor="t" lIns="0" rIns="0" tIns="0" bIns="0">
            <a:spAutoFit/>
          </a:bodyPr>
          <a:lstStyle/>
          <a:p>
            <a:pPr algn="l">
              <a:lnSpc>
                <a:spcPct val="110000"/>
              </a:lnSpc>
              <a:spcAft>
                <a:spcPts val="400"/>
              </a:spcAft>
            </a:pPr>
            <a:r>
              <a:rPr sz="1250" b="0">
                <a:solidFill>
                  <a:srgbClr val="1B1E24"/>
                </a:solidFill>
                <a:latin typeface="IBM Plex Sans"/>
              </a:rPr>
              <a:t>•  Reconstructs the migrated derivation from source columns</a:t>
            </a:r>
          </a:p>
          <a:p>
            <a:pPr algn="l">
              <a:lnSpc>
                <a:spcPct val="110000"/>
              </a:lnSpc>
              <a:spcAft>
                <a:spcPts val="700"/>
              </a:spcAft>
            </a:pPr>
            <a:r>
              <a:rPr sz="1250" b="0">
                <a:solidFill>
                  <a:srgbClr val="1B1E24"/>
                </a:solidFill>
                <a:latin typeface="IBM Plex Sans"/>
              </a:rPr>
              <a:t>•  Proposes the precise cause AND a confirming SQL query</a:t>
            </a:r>
          </a:p>
          <a:p>
            <a:pPr algn="l">
              <a:lnSpc>
                <a:spcPct val="110000"/>
              </a:lnSpc>
              <a:spcAft>
                <a:spcPts val="700"/>
              </a:spcAft>
            </a:pPr>
            <a:r>
              <a:rPr sz="1250" b="0">
                <a:solidFill>
                  <a:srgbClr val="1B1E24"/>
                </a:solidFill>
                <a:latin typeface="IBM Plex Sans"/>
              </a:rPr>
              <a:t>•  Promoted only if the query matches every row — else needs-review</a:t>
            </a:r>
          </a:p>
          <a:p>
            <a:pPr algn="l">
              <a:lnSpc>
                <a:spcPct val="110000"/>
              </a:lnSpc>
              <a:spcAft>
                <a:spcPts val="700"/>
              </a:spcAft>
            </a:pPr>
            <a:r>
              <a:rPr sz="1250" b="0">
                <a:solidFill>
                  <a:srgbClr val="1B1E24"/>
                </a:solidFill>
                <a:latin typeface="IBM Plex Sans"/>
              </a:rPr>
              <a:t>•  Interactive (Genie Code) or headless (FM endpoint) — same gate</a:t>
            </a:r>
          </a:p>
        </p:txBody>
      </p:sp>
      <p:sp>
        <p:nvSpPr>
          <p:cNvPr id="20" name="Rounded Rectangle 19"/>
          <p:cNvSpPr/>
          <p:nvPr/>
        </p:nvSpPr>
        <p:spPr>
          <a:xfrm>
            <a:off x="6583680" y="5623560"/>
            <a:ext cx="4434840" cy="457200"/>
          </a:xfrm>
          <a:prstGeom prst="roundRect">
            <a:avLst>
              <a:gd name="adj" fmla="val 10000"/>
            </a:avLst>
          </a:prstGeom>
          <a:solidFill>
            <a:srgbClr val="EFE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5623560"/>
            <a:ext cx="4206240" cy="457200"/>
          </a:xfrm>
          <a:prstGeom prst="rect">
            <a:avLst/>
          </a:prstGeom>
          <a:noFill/>
        </p:spPr>
        <p:txBody>
          <a:bodyPr wrap="square" anchor="ctr" lIns="0" rIns="0" tIns="0" bIns="0">
            <a:spAutoFit/>
          </a:bodyPr>
          <a:lstStyle/>
          <a:p>
            <a:pPr algn="l">
              <a:lnSpc>
                <a:spcPct val="100000"/>
              </a:lnSpc>
              <a:spcAft>
                <a:spcPts val="400"/>
              </a:spcAft>
            </a:pPr>
            <a:r>
              <a:rPr sz="1100" b="0">
                <a:solidFill>
                  <a:srgbClr val="5C6472"/>
                </a:solidFill>
                <a:latin typeface="IBM Plex Sans"/>
              </a:rPr>
              <a:t>Guardrail: the query is the gate. A wrong hypothesis doesn’t stick.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058400" cy="274320"/>
          </a:xfrm>
          <a:prstGeom prst="rect">
            <a:avLst/>
          </a:prstGeom>
          <a:noFill/>
        </p:spPr>
        <p:txBody>
          <a:bodyPr wrap="square" anchor="t" lIns="0" rIns="0" tIns="0" bIns="0">
            <a:spAutoFit/>
          </a:bodyPr>
          <a:lstStyle/>
          <a:p>
            <a:pPr algn="l">
              <a:lnSpc>
                <a:spcPct val="100000"/>
              </a:lnSpc>
              <a:spcAft>
                <a:spcPts val="400"/>
              </a:spcAft>
            </a:pPr>
            <a:r>
              <a:rPr sz="1200" b="1">
                <a:solidFill>
                  <a:srgbClr val="C56A2E"/>
                </a:solidFill>
                <a:latin typeface="IBM Plex Mono"/>
              </a:rPr>
              <a:t>SURFACE FIT</a:t>
            </a:r>
          </a:p>
        </p:txBody>
      </p:sp>
      <p:sp>
        <p:nvSpPr>
          <p:cNvPr id="5" name="TextBox 4"/>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Aft>
                <a:spcPts val="400"/>
              </a:spcAft>
            </a:pPr>
            <a:r>
              <a:rPr sz="2500" b="1">
                <a:solidFill>
                  <a:srgbClr val="1B1E24"/>
                </a:solidFill>
                <a:latin typeface="Archivo"/>
              </a:rPr>
              <a:t>One engine, three entry points — matched to what each workspace allows.</a:t>
            </a:r>
          </a:p>
        </p:txBody>
      </p:sp>
      <p:sp>
        <p:nvSpPr>
          <p:cNvPr id="6" name="TextBox 5"/>
          <p:cNvSpPr txBox="1"/>
          <p:nvPr/>
        </p:nvSpPr>
        <p:spPr>
          <a:xfrm>
            <a:off x="822960" y="1691640"/>
            <a:ext cx="10515600" cy="365760"/>
          </a:xfrm>
          <a:prstGeom prst="rect">
            <a:avLst/>
          </a:prstGeom>
          <a:noFill/>
        </p:spPr>
        <p:txBody>
          <a:bodyPr wrap="square" anchor="t" lIns="0" rIns="0" tIns="0" bIns="0">
            <a:spAutoFit/>
          </a:bodyPr>
          <a:lstStyle/>
          <a:p>
            <a:pPr algn="l">
              <a:lnSpc>
                <a:spcPct val="115000"/>
              </a:lnSpc>
              <a:spcAft>
                <a:spcPts val="400"/>
              </a:spcAft>
            </a:pPr>
            <a:r>
              <a:rPr sz="1300" b="0">
                <a:solidFill>
                  <a:srgbClr val="5C6472"/>
                </a:solidFill>
                <a:latin typeface="IBM Plex Sans"/>
              </a:rPr>
              <a:t>The same code-aware engine backs all three surfaces — the RCA notebook is identical wherever it runs. Both approaches are available on every surface.</a:t>
            </a:r>
          </a:p>
        </p:txBody>
      </p:sp>
      <p:sp>
        <p:nvSpPr>
          <p:cNvPr id="7" name="TextBox 6"/>
          <p:cNvSpPr txBox="1"/>
          <p:nvPr/>
        </p:nvSpPr>
        <p:spPr>
          <a:xfrm>
            <a:off x="822960" y="2331720"/>
            <a:ext cx="3200400" cy="274320"/>
          </a:xfrm>
          <a:prstGeom prst="rect">
            <a:avLst/>
          </a:prstGeom>
          <a:noFill/>
        </p:spPr>
        <p:txBody>
          <a:bodyPr wrap="square" anchor="t" lIns="0" rIns="0" tIns="0" bIns="0">
            <a:spAutoFit/>
          </a:bodyPr>
          <a:lstStyle/>
          <a:p>
            <a:pPr algn="l">
              <a:lnSpc>
                <a:spcPct val="100000"/>
              </a:lnSpc>
              <a:spcAft>
                <a:spcPts val="400"/>
              </a:spcAft>
            </a:pPr>
            <a:r>
              <a:rPr sz="1050" b="1">
                <a:solidFill>
                  <a:srgbClr val="5C6472"/>
                </a:solidFill>
                <a:latin typeface="IBM Plex Mono"/>
              </a:rPr>
              <a:t>ENTRY POINT</a:t>
            </a:r>
          </a:p>
        </p:txBody>
      </p:sp>
      <p:sp>
        <p:nvSpPr>
          <p:cNvPr id="8" name="TextBox 7"/>
          <p:cNvSpPr txBox="1"/>
          <p:nvPr/>
        </p:nvSpPr>
        <p:spPr>
          <a:xfrm>
            <a:off x="4206240" y="2331720"/>
            <a:ext cx="1828800" cy="274320"/>
          </a:xfrm>
          <a:prstGeom prst="rect">
            <a:avLst/>
          </a:prstGeom>
          <a:noFill/>
        </p:spPr>
        <p:txBody>
          <a:bodyPr wrap="square" anchor="t" lIns="0" rIns="0" tIns="0" bIns="0">
            <a:spAutoFit/>
          </a:bodyPr>
          <a:lstStyle/>
          <a:p>
            <a:pPr algn="l">
              <a:lnSpc>
                <a:spcPct val="100000"/>
              </a:lnSpc>
              <a:spcAft>
                <a:spcPts val="400"/>
              </a:spcAft>
            </a:pPr>
            <a:r>
              <a:rPr sz="1050" b="1">
                <a:solidFill>
                  <a:srgbClr val="5C6472"/>
                </a:solidFill>
                <a:latin typeface="IBM Plex Mono"/>
              </a:rPr>
              <a:t>DETERMINISTIC</a:t>
            </a:r>
          </a:p>
        </p:txBody>
      </p:sp>
      <p:sp>
        <p:nvSpPr>
          <p:cNvPr id="9" name="TextBox 8"/>
          <p:cNvSpPr txBox="1"/>
          <p:nvPr/>
        </p:nvSpPr>
        <p:spPr>
          <a:xfrm>
            <a:off x="6126480" y="2331720"/>
            <a:ext cx="2103120" cy="274320"/>
          </a:xfrm>
          <a:prstGeom prst="rect">
            <a:avLst/>
          </a:prstGeom>
          <a:noFill/>
        </p:spPr>
        <p:txBody>
          <a:bodyPr wrap="square" anchor="t" lIns="0" rIns="0" tIns="0" bIns="0">
            <a:spAutoFit/>
          </a:bodyPr>
          <a:lstStyle/>
          <a:p>
            <a:pPr algn="l">
              <a:lnSpc>
                <a:spcPct val="100000"/>
              </a:lnSpc>
              <a:spcAft>
                <a:spcPts val="400"/>
              </a:spcAft>
            </a:pPr>
            <a:r>
              <a:rPr sz="1050" b="1">
                <a:solidFill>
                  <a:srgbClr val="5C6472"/>
                </a:solidFill>
                <a:latin typeface="IBM Plex Mono"/>
              </a:rPr>
              <a:t>HYBRID (DET + AGENTIC)</a:t>
            </a:r>
          </a:p>
        </p:txBody>
      </p:sp>
      <p:sp>
        <p:nvSpPr>
          <p:cNvPr id="10" name="TextBox 9"/>
          <p:cNvSpPr txBox="1"/>
          <p:nvPr/>
        </p:nvSpPr>
        <p:spPr>
          <a:xfrm>
            <a:off x="8321040" y="2331720"/>
            <a:ext cx="3017520" cy="274320"/>
          </a:xfrm>
          <a:prstGeom prst="rect">
            <a:avLst/>
          </a:prstGeom>
          <a:noFill/>
        </p:spPr>
        <p:txBody>
          <a:bodyPr wrap="square" anchor="t" lIns="0" rIns="0" tIns="0" bIns="0">
            <a:spAutoFit/>
          </a:bodyPr>
          <a:lstStyle/>
          <a:p>
            <a:pPr algn="l">
              <a:lnSpc>
                <a:spcPct val="100000"/>
              </a:lnSpc>
              <a:spcAft>
                <a:spcPts val="400"/>
              </a:spcAft>
            </a:pPr>
            <a:r>
              <a:rPr sz="1050" b="1">
                <a:solidFill>
                  <a:srgbClr val="5C6472"/>
                </a:solidFill>
                <a:latin typeface="IBM Plex Mono"/>
              </a:rPr>
              <a:t>BEST FOR</a:t>
            </a:r>
          </a:p>
        </p:txBody>
      </p:sp>
      <p:sp>
        <p:nvSpPr>
          <p:cNvPr id="11" name="Rectangle 10"/>
          <p:cNvSpPr/>
          <p:nvPr/>
        </p:nvSpPr>
        <p:spPr>
          <a:xfrm>
            <a:off x="822960" y="2642615"/>
            <a:ext cx="1051560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788920"/>
            <a:ext cx="3200400" cy="365760"/>
          </a:xfrm>
          <a:prstGeom prst="rect">
            <a:avLst/>
          </a:prstGeom>
          <a:noFill/>
        </p:spPr>
        <p:txBody>
          <a:bodyPr wrap="square" anchor="t" lIns="0" rIns="0" tIns="0" bIns="0">
            <a:spAutoFit/>
          </a:bodyPr>
          <a:lstStyle/>
          <a:p>
            <a:pPr algn="l">
              <a:lnSpc>
                <a:spcPct val="100000"/>
              </a:lnSpc>
              <a:spcAft>
                <a:spcPts val="400"/>
              </a:spcAft>
            </a:pPr>
            <a:r>
              <a:rPr sz="1400" b="1">
                <a:solidFill>
                  <a:srgbClr val="1B1E24"/>
                </a:solidFill>
                <a:latin typeface="Archivo"/>
              </a:rPr>
              <a:t>Databricks App</a:t>
            </a:r>
          </a:p>
        </p:txBody>
      </p:sp>
      <p:sp>
        <p:nvSpPr>
          <p:cNvPr id="13" name="TextBox 12"/>
          <p:cNvSpPr txBox="1"/>
          <p:nvPr/>
        </p:nvSpPr>
        <p:spPr>
          <a:xfrm>
            <a:off x="822960" y="3081527"/>
            <a:ext cx="3200400" cy="274320"/>
          </a:xfrm>
          <a:prstGeom prst="rect">
            <a:avLst/>
          </a:prstGeom>
          <a:noFill/>
        </p:spPr>
        <p:txBody>
          <a:bodyPr wrap="square" anchor="t" lIns="0" rIns="0" tIns="0" bIns="0">
            <a:spAutoFit/>
          </a:bodyPr>
          <a:lstStyle/>
          <a:p>
            <a:pPr algn="l">
              <a:lnSpc>
                <a:spcPct val="100000"/>
              </a:lnSpc>
              <a:spcAft>
                <a:spcPts val="400"/>
              </a:spcAft>
            </a:pPr>
            <a:r>
              <a:rPr sz="1050" b="0">
                <a:solidFill>
                  <a:srgbClr val="5C6472"/>
                </a:solidFill>
                <a:latin typeface="IBM Plex Mono"/>
              </a:rPr>
              <a:t>web UI · no local setup</a:t>
            </a:r>
          </a:p>
        </p:txBody>
      </p:sp>
      <p:sp>
        <p:nvSpPr>
          <p:cNvPr id="14" name="TextBox 13"/>
          <p:cNvSpPr txBox="1"/>
          <p:nvPr/>
        </p:nvSpPr>
        <p:spPr>
          <a:xfrm>
            <a:off x="4206240" y="2788920"/>
            <a:ext cx="1828800" cy="365760"/>
          </a:xfrm>
          <a:prstGeom prst="rect">
            <a:avLst/>
          </a:prstGeom>
          <a:noFill/>
        </p:spPr>
        <p:txBody>
          <a:bodyPr wrap="square" anchor="t" lIns="0" rIns="0" tIns="0" bIns="0">
            <a:spAutoFit/>
          </a:bodyPr>
          <a:lstStyle/>
          <a:p>
            <a:pPr algn="l">
              <a:lnSpc>
                <a:spcPct val="100000"/>
              </a:lnSpc>
              <a:spcAft>
                <a:spcPts val="400"/>
              </a:spcAft>
            </a:pPr>
            <a:r>
              <a:rPr sz="1250" b="1">
                <a:solidFill>
                  <a:srgbClr val="2E7D5B"/>
                </a:solidFill>
                <a:latin typeface="IBM Plex Sans"/>
              </a:rPr>
              <a:t>✓ default</a:t>
            </a:r>
          </a:p>
        </p:txBody>
      </p:sp>
      <p:sp>
        <p:nvSpPr>
          <p:cNvPr id="15" name="TextBox 14"/>
          <p:cNvSpPr txBox="1"/>
          <p:nvPr/>
        </p:nvSpPr>
        <p:spPr>
          <a:xfrm>
            <a:off x="6126480" y="2788920"/>
            <a:ext cx="2103120" cy="365760"/>
          </a:xfrm>
          <a:prstGeom prst="rect">
            <a:avLst/>
          </a:prstGeom>
          <a:noFill/>
        </p:spPr>
        <p:txBody>
          <a:bodyPr wrap="square" anchor="t" lIns="0" rIns="0" tIns="0" bIns="0">
            <a:spAutoFit/>
          </a:bodyPr>
          <a:lstStyle/>
          <a:p>
            <a:pPr algn="l">
              <a:lnSpc>
                <a:spcPct val="100000"/>
              </a:lnSpc>
              <a:spcAft>
                <a:spcPts val="400"/>
              </a:spcAft>
            </a:pPr>
            <a:r>
              <a:rPr sz="1250" b="1">
                <a:solidFill>
                  <a:srgbClr val="2E7D5B"/>
                </a:solidFill>
                <a:latin typeface="IBM Plex Sans"/>
              </a:rPr>
              <a:t>✓ toggle → FM endpoint</a:t>
            </a:r>
          </a:p>
        </p:txBody>
      </p:sp>
      <p:sp>
        <p:nvSpPr>
          <p:cNvPr id="16" name="TextBox 15"/>
          <p:cNvSpPr txBox="1"/>
          <p:nvPr/>
        </p:nvSpPr>
        <p:spPr>
          <a:xfrm>
            <a:off x="8321040" y="2788920"/>
            <a:ext cx="3017520" cy="640080"/>
          </a:xfrm>
          <a:prstGeom prst="rect">
            <a:avLst/>
          </a:prstGeom>
          <a:noFill/>
        </p:spPr>
        <p:txBody>
          <a:bodyPr wrap="square" anchor="t" lIns="0" rIns="0" tIns="0" bIns="0">
            <a:spAutoFit/>
          </a:bodyPr>
          <a:lstStyle/>
          <a:p>
            <a:pPr algn="l">
              <a:lnSpc>
                <a:spcPct val="105000"/>
              </a:lnSpc>
              <a:spcAft>
                <a:spcPts val="400"/>
              </a:spcAft>
            </a:pPr>
            <a:r>
              <a:rPr sz="1200" b="0">
                <a:solidFill>
                  <a:srgbClr val="5C6472"/>
                </a:solidFill>
                <a:latin typeface="IBM Plex Sans"/>
              </a:rPr>
              <a:t>Analysts &amp; leadership; Genie-restricted workspaces</a:t>
            </a:r>
          </a:p>
        </p:txBody>
      </p:sp>
      <p:sp>
        <p:nvSpPr>
          <p:cNvPr id="17" name="Rectangle 16"/>
          <p:cNvSpPr/>
          <p:nvPr/>
        </p:nvSpPr>
        <p:spPr>
          <a:xfrm>
            <a:off x="822960" y="3502152"/>
            <a:ext cx="10515600" cy="13716"/>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703320"/>
            <a:ext cx="3200400" cy="365760"/>
          </a:xfrm>
          <a:prstGeom prst="rect">
            <a:avLst/>
          </a:prstGeom>
          <a:noFill/>
        </p:spPr>
        <p:txBody>
          <a:bodyPr wrap="square" anchor="t" lIns="0" rIns="0" tIns="0" bIns="0">
            <a:spAutoFit/>
          </a:bodyPr>
          <a:lstStyle/>
          <a:p>
            <a:pPr algn="l">
              <a:lnSpc>
                <a:spcPct val="100000"/>
              </a:lnSpc>
              <a:spcAft>
                <a:spcPts val="400"/>
              </a:spcAft>
            </a:pPr>
            <a:r>
              <a:rPr sz="1400" b="1">
                <a:solidFill>
                  <a:srgbClr val="1B1E24"/>
                </a:solidFill>
                <a:latin typeface="Archivo"/>
              </a:rPr>
              <a:t>CLI</a:t>
            </a:r>
          </a:p>
        </p:txBody>
      </p:sp>
      <p:sp>
        <p:nvSpPr>
          <p:cNvPr id="19" name="TextBox 18"/>
          <p:cNvSpPr txBox="1"/>
          <p:nvPr/>
        </p:nvSpPr>
        <p:spPr>
          <a:xfrm>
            <a:off x="822960" y="3995928"/>
            <a:ext cx="3200400" cy="274320"/>
          </a:xfrm>
          <a:prstGeom prst="rect">
            <a:avLst/>
          </a:prstGeom>
          <a:noFill/>
        </p:spPr>
        <p:txBody>
          <a:bodyPr wrap="square" anchor="t" lIns="0" rIns="0" tIns="0" bIns="0">
            <a:spAutoFit/>
          </a:bodyPr>
          <a:lstStyle/>
          <a:p>
            <a:pPr algn="l">
              <a:lnSpc>
                <a:spcPct val="100000"/>
              </a:lnSpc>
              <a:spcAft>
                <a:spcPts val="400"/>
              </a:spcAft>
            </a:pPr>
            <a:r>
              <a:rPr sz="1050" b="0">
                <a:solidFill>
                  <a:srgbClr val="5C6472"/>
                </a:solidFill>
                <a:latin typeface="IBM Plex Mono"/>
              </a:rPr>
              <a:t>python -m rca_engine.cli</a:t>
            </a:r>
          </a:p>
        </p:txBody>
      </p:sp>
      <p:sp>
        <p:nvSpPr>
          <p:cNvPr id="20" name="TextBox 19"/>
          <p:cNvSpPr txBox="1"/>
          <p:nvPr/>
        </p:nvSpPr>
        <p:spPr>
          <a:xfrm>
            <a:off x="4206240" y="3703320"/>
            <a:ext cx="1828800" cy="365760"/>
          </a:xfrm>
          <a:prstGeom prst="rect">
            <a:avLst/>
          </a:prstGeom>
          <a:noFill/>
        </p:spPr>
        <p:txBody>
          <a:bodyPr wrap="square" anchor="t" lIns="0" rIns="0" tIns="0" bIns="0">
            <a:spAutoFit/>
          </a:bodyPr>
          <a:lstStyle/>
          <a:p>
            <a:pPr algn="l">
              <a:lnSpc>
                <a:spcPct val="100000"/>
              </a:lnSpc>
              <a:spcAft>
                <a:spcPts val="400"/>
              </a:spcAft>
            </a:pPr>
            <a:r>
              <a:rPr sz="1250" b="1">
                <a:solidFill>
                  <a:srgbClr val="2E7D5B"/>
                </a:solidFill>
                <a:latin typeface="IBM Plex Sans"/>
              </a:rPr>
              <a:t>✓ default</a:t>
            </a:r>
          </a:p>
        </p:txBody>
      </p:sp>
      <p:sp>
        <p:nvSpPr>
          <p:cNvPr id="21" name="TextBox 20"/>
          <p:cNvSpPr txBox="1"/>
          <p:nvPr/>
        </p:nvSpPr>
        <p:spPr>
          <a:xfrm>
            <a:off x="6126480" y="3703320"/>
            <a:ext cx="2103120" cy="365760"/>
          </a:xfrm>
          <a:prstGeom prst="rect">
            <a:avLst/>
          </a:prstGeom>
          <a:noFill/>
        </p:spPr>
        <p:txBody>
          <a:bodyPr wrap="square" anchor="t" lIns="0" rIns="0" tIns="0" bIns="0">
            <a:spAutoFit/>
          </a:bodyPr>
          <a:lstStyle/>
          <a:p>
            <a:pPr algn="l">
              <a:lnSpc>
                <a:spcPct val="100000"/>
              </a:lnSpc>
              <a:spcAft>
                <a:spcPts val="400"/>
              </a:spcAft>
            </a:pPr>
            <a:r>
              <a:rPr sz="1250" b="1">
                <a:solidFill>
                  <a:srgbClr val="2E7D5B"/>
                </a:solidFill>
                <a:latin typeface="IBM Plex Sans"/>
              </a:rPr>
              <a:t>✓ --endpoint</a:t>
            </a:r>
          </a:p>
        </p:txBody>
      </p:sp>
      <p:sp>
        <p:nvSpPr>
          <p:cNvPr id="22" name="TextBox 21"/>
          <p:cNvSpPr txBox="1"/>
          <p:nvPr/>
        </p:nvSpPr>
        <p:spPr>
          <a:xfrm>
            <a:off x="8321040" y="3703320"/>
            <a:ext cx="3017520" cy="640080"/>
          </a:xfrm>
          <a:prstGeom prst="rect">
            <a:avLst/>
          </a:prstGeom>
          <a:noFill/>
        </p:spPr>
        <p:txBody>
          <a:bodyPr wrap="square" anchor="t" lIns="0" rIns="0" tIns="0" bIns="0">
            <a:spAutoFit/>
          </a:bodyPr>
          <a:lstStyle/>
          <a:p>
            <a:pPr algn="l">
              <a:lnSpc>
                <a:spcPct val="105000"/>
              </a:lnSpc>
              <a:spcAft>
                <a:spcPts val="400"/>
              </a:spcAft>
            </a:pPr>
            <a:r>
              <a:rPr sz="1200" b="0">
                <a:solidFill>
                  <a:srgbClr val="5C6472"/>
                </a:solidFill>
                <a:latin typeface="IBM Plex Sans"/>
              </a:rPr>
              <a:t>CI/CD &amp; automation; Genie-restricted workspaces</a:t>
            </a:r>
          </a:p>
        </p:txBody>
      </p:sp>
      <p:sp>
        <p:nvSpPr>
          <p:cNvPr id="23" name="Rectangle 22"/>
          <p:cNvSpPr/>
          <p:nvPr/>
        </p:nvSpPr>
        <p:spPr>
          <a:xfrm>
            <a:off x="822960" y="4416552"/>
            <a:ext cx="10515600" cy="13716"/>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617720"/>
            <a:ext cx="3200400" cy="365760"/>
          </a:xfrm>
          <a:prstGeom prst="rect">
            <a:avLst/>
          </a:prstGeom>
          <a:noFill/>
        </p:spPr>
        <p:txBody>
          <a:bodyPr wrap="square" anchor="t" lIns="0" rIns="0" tIns="0" bIns="0">
            <a:spAutoFit/>
          </a:bodyPr>
          <a:lstStyle/>
          <a:p>
            <a:pPr algn="l">
              <a:lnSpc>
                <a:spcPct val="100000"/>
              </a:lnSpc>
              <a:spcAft>
                <a:spcPts val="400"/>
              </a:spcAft>
            </a:pPr>
            <a:r>
              <a:rPr sz="1400" b="1">
                <a:solidFill>
                  <a:srgbClr val="1B1E24"/>
                </a:solidFill>
                <a:latin typeface="Archivo"/>
              </a:rPr>
              <a:t>Genie Code skill</a:t>
            </a:r>
          </a:p>
        </p:txBody>
      </p:sp>
      <p:sp>
        <p:nvSpPr>
          <p:cNvPr id="25" name="TextBox 24"/>
          <p:cNvSpPr txBox="1"/>
          <p:nvPr/>
        </p:nvSpPr>
        <p:spPr>
          <a:xfrm>
            <a:off x="822960" y="4910328"/>
            <a:ext cx="3200400" cy="274320"/>
          </a:xfrm>
          <a:prstGeom prst="rect">
            <a:avLst/>
          </a:prstGeom>
          <a:noFill/>
        </p:spPr>
        <p:txBody>
          <a:bodyPr wrap="square" anchor="t" lIns="0" rIns="0" tIns="0" bIns="0">
            <a:spAutoFit/>
          </a:bodyPr>
          <a:lstStyle/>
          <a:p>
            <a:pPr algn="l">
              <a:lnSpc>
                <a:spcPct val="100000"/>
              </a:lnSpc>
              <a:spcAft>
                <a:spcPts val="400"/>
              </a:spcAft>
            </a:pPr>
            <a:r>
              <a:rPr sz="1050" b="0">
                <a:solidFill>
                  <a:srgbClr val="5C6472"/>
                </a:solidFill>
                <a:latin typeface="IBM Plex Mono"/>
              </a:rPr>
              <a:t>rca-recon · agent mode</a:t>
            </a:r>
          </a:p>
        </p:txBody>
      </p:sp>
      <p:sp>
        <p:nvSpPr>
          <p:cNvPr id="26" name="TextBox 25"/>
          <p:cNvSpPr txBox="1"/>
          <p:nvPr/>
        </p:nvSpPr>
        <p:spPr>
          <a:xfrm>
            <a:off x="4206240" y="4617720"/>
            <a:ext cx="1828800" cy="365760"/>
          </a:xfrm>
          <a:prstGeom prst="rect">
            <a:avLst/>
          </a:prstGeom>
          <a:noFill/>
        </p:spPr>
        <p:txBody>
          <a:bodyPr wrap="square" anchor="t" lIns="0" rIns="0" tIns="0" bIns="0">
            <a:spAutoFit/>
          </a:bodyPr>
          <a:lstStyle/>
          <a:p>
            <a:pPr algn="l">
              <a:lnSpc>
                <a:spcPct val="100000"/>
              </a:lnSpc>
              <a:spcAft>
                <a:spcPts val="400"/>
              </a:spcAft>
            </a:pPr>
            <a:r>
              <a:rPr sz="1250" b="1">
                <a:solidFill>
                  <a:srgbClr val="2E7D5B"/>
                </a:solidFill>
                <a:latin typeface="IBM Plex Sans"/>
              </a:rPr>
              <a:t>✓ llm off</a:t>
            </a:r>
          </a:p>
        </p:txBody>
      </p:sp>
      <p:sp>
        <p:nvSpPr>
          <p:cNvPr id="27" name="TextBox 26"/>
          <p:cNvSpPr txBox="1"/>
          <p:nvPr/>
        </p:nvSpPr>
        <p:spPr>
          <a:xfrm>
            <a:off x="6126480" y="4617720"/>
            <a:ext cx="2103120" cy="365760"/>
          </a:xfrm>
          <a:prstGeom prst="rect">
            <a:avLst/>
          </a:prstGeom>
          <a:noFill/>
        </p:spPr>
        <p:txBody>
          <a:bodyPr wrap="square" anchor="t" lIns="0" rIns="0" tIns="0" bIns="0">
            <a:spAutoFit/>
          </a:bodyPr>
          <a:lstStyle/>
          <a:p>
            <a:pPr algn="l">
              <a:lnSpc>
                <a:spcPct val="100000"/>
              </a:lnSpc>
              <a:spcAft>
                <a:spcPts val="400"/>
              </a:spcAft>
            </a:pPr>
            <a:r>
              <a:rPr sz="1250" b="1">
                <a:solidFill>
                  <a:srgbClr val="C56A2E"/>
                </a:solidFill>
                <a:latin typeface="IBM Plex Sans"/>
              </a:rPr>
              <a:t>✓ BEST — interactive agent</a:t>
            </a:r>
          </a:p>
        </p:txBody>
      </p:sp>
      <p:sp>
        <p:nvSpPr>
          <p:cNvPr id="28" name="TextBox 27"/>
          <p:cNvSpPr txBox="1"/>
          <p:nvPr/>
        </p:nvSpPr>
        <p:spPr>
          <a:xfrm>
            <a:off x="8321040" y="4617720"/>
            <a:ext cx="3017520" cy="640080"/>
          </a:xfrm>
          <a:prstGeom prst="rect">
            <a:avLst/>
          </a:prstGeom>
          <a:noFill/>
        </p:spPr>
        <p:txBody>
          <a:bodyPr wrap="square" anchor="t" lIns="0" rIns="0" tIns="0" bIns="0">
            <a:spAutoFit/>
          </a:bodyPr>
          <a:lstStyle/>
          <a:p>
            <a:pPr algn="l">
              <a:lnSpc>
                <a:spcPct val="105000"/>
              </a:lnSpc>
              <a:spcAft>
                <a:spcPts val="400"/>
              </a:spcAft>
            </a:pPr>
            <a:r>
              <a:rPr sz="1200" b="0">
                <a:solidFill>
                  <a:srgbClr val="5C6472"/>
                </a:solidFill>
                <a:latin typeface="IBM Plex Sans"/>
              </a:rPr>
              <a:t>Flexible workspaces wanting the live agentic experience</a:t>
            </a:r>
          </a:p>
        </p:txBody>
      </p:sp>
      <p:sp>
        <p:nvSpPr>
          <p:cNvPr id="29" name="Rectangle 28"/>
          <p:cNvSpPr/>
          <p:nvPr/>
        </p:nvSpPr>
        <p:spPr>
          <a:xfrm>
            <a:off x="822960" y="5330952"/>
            <a:ext cx="10515600" cy="13716"/>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058400" cy="274320"/>
          </a:xfrm>
          <a:prstGeom prst="rect">
            <a:avLst/>
          </a:prstGeom>
          <a:noFill/>
        </p:spPr>
        <p:txBody>
          <a:bodyPr wrap="square" anchor="t" lIns="0" rIns="0" tIns="0" bIns="0">
            <a:spAutoFit/>
          </a:bodyPr>
          <a:lstStyle/>
          <a:p>
            <a:pPr algn="l">
              <a:lnSpc>
                <a:spcPct val="100000"/>
              </a:lnSpc>
              <a:spcAft>
                <a:spcPts val="400"/>
              </a:spcAft>
            </a:pPr>
            <a:r>
              <a:rPr sz="1200" b="1">
                <a:solidFill>
                  <a:srgbClr val="C56A2E"/>
                </a:solidFill>
                <a:latin typeface="IBM Plex Mono"/>
              </a:rPr>
              <a:t>DECISION GUIDE</a:t>
            </a:r>
          </a:p>
        </p:txBody>
      </p:sp>
      <p:sp>
        <p:nvSpPr>
          <p:cNvPr id="5" name="TextBox 4"/>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Aft>
                <a:spcPts val="400"/>
              </a:spcAft>
            </a:pPr>
            <a:r>
              <a:rPr sz="2500" b="1">
                <a:solidFill>
                  <a:srgbClr val="1B1E24"/>
                </a:solidFill>
                <a:latin typeface="Archivo"/>
              </a:rPr>
              <a:t>Which entry point? Start with one question — is Genie Code approved?</a:t>
            </a:r>
          </a:p>
        </p:txBody>
      </p:sp>
      <p:sp>
        <p:nvSpPr>
          <p:cNvPr id="6" name="TextBox 5"/>
          <p:cNvSpPr txBox="1"/>
          <p:nvPr/>
        </p:nvSpPr>
        <p:spPr>
          <a:xfrm>
            <a:off x="822960" y="1691640"/>
            <a:ext cx="10515600" cy="548640"/>
          </a:xfrm>
          <a:prstGeom prst="rect">
            <a:avLst/>
          </a:prstGeom>
          <a:noFill/>
        </p:spPr>
        <p:txBody>
          <a:bodyPr wrap="square" anchor="t" lIns="0" rIns="0" tIns="0" bIns="0">
            <a:spAutoFit/>
          </a:bodyPr>
          <a:lstStyle/>
          <a:p>
            <a:pPr algn="l">
              <a:lnSpc>
                <a:spcPct val="115000"/>
              </a:lnSpc>
              <a:spcAft>
                <a:spcPts val="400"/>
              </a:spcAft>
            </a:pPr>
            <a:r>
              <a:rPr sz="1300" b="0">
                <a:solidFill>
                  <a:srgbClr val="5C6472"/>
                </a:solidFill>
                <a:latin typeface="IBM Plex Sans"/>
              </a:rPr>
              <a:t>Genie Code isn’t enabled in every customer workspace. It never blocks ReconResolve: deterministic RCA runs everywhere, and the agentic tier runs wherever a Foundation-Model serving endpoint is permitted.</a:t>
            </a:r>
          </a:p>
        </p:txBody>
      </p:sp>
      <p:sp>
        <p:nvSpPr>
          <p:cNvPr id="7" name="Rounded Rectangle 6"/>
          <p:cNvSpPr/>
          <p:nvPr/>
        </p:nvSpPr>
        <p:spPr>
          <a:xfrm>
            <a:off x="822960" y="2423160"/>
            <a:ext cx="5074920" cy="2926080"/>
          </a:xfrm>
          <a:prstGeom prst="roundRect">
            <a:avLst>
              <a:gd name="adj" fmla="val 3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2423160"/>
            <a:ext cx="5074920" cy="777240"/>
          </a:xfrm>
          <a:prstGeom prst="roundRect">
            <a:avLst>
              <a:gd name="adj" fmla="val 5000"/>
            </a:avLst>
          </a:prstGeom>
          <a:solidFill>
            <a:srgbClr val="F6E9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017520"/>
            <a:ext cx="5074920" cy="182880"/>
          </a:xfrm>
          <a:prstGeom prst="rect">
            <a:avLst/>
          </a:prstGeom>
          <a:solidFill>
            <a:srgbClr val="F6E9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2560320"/>
            <a:ext cx="4572000" cy="365760"/>
          </a:xfrm>
          <a:prstGeom prst="rect">
            <a:avLst/>
          </a:prstGeom>
          <a:noFill/>
        </p:spPr>
        <p:txBody>
          <a:bodyPr wrap="square" anchor="t" lIns="0" rIns="0" tIns="0" bIns="0">
            <a:spAutoFit/>
          </a:bodyPr>
          <a:lstStyle/>
          <a:p>
            <a:pPr algn="l">
              <a:lnSpc>
                <a:spcPct val="100000"/>
              </a:lnSpc>
              <a:spcAft>
                <a:spcPts val="400"/>
              </a:spcAft>
            </a:pPr>
            <a:r>
              <a:rPr sz="1600" b="1">
                <a:solidFill>
                  <a:srgbClr val="1B1E24"/>
                </a:solidFill>
                <a:latin typeface="Archivo"/>
              </a:rPr>
              <a:t>⛔  Genie Code NOT approved</a:t>
            </a:r>
          </a:p>
        </p:txBody>
      </p:sp>
      <p:sp>
        <p:nvSpPr>
          <p:cNvPr id="11" name="TextBox 10"/>
          <p:cNvSpPr txBox="1"/>
          <p:nvPr/>
        </p:nvSpPr>
        <p:spPr>
          <a:xfrm>
            <a:off x="1143000" y="2907792"/>
            <a:ext cx="4572000" cy="274320"/>
          </a:xfrm>
          <a:prstGeom prst="rect">
            <a:avLst/>
          </a:prstGeom>
          <a:noFill/>
        </p:spPr>
        <p:txBody>
          <a:bodyPr wrap="square" anchor="t" lIns="0" rIns="0" tIns="0" bIns="0">
            <a:spAutoFit/>
          </a:bodyPr>
          <a:lstStyle/>
          <a:p>
            <a:pPr algn="l">
              <a:lnSpc>
                <a:spcPct val="100000"/>
              </a:lnSpc>
              <a:spcAft>
                <a:spcPts val="400"/>
              </a:spcAft>
            </a:pPr>
            <a:r>
              <a:rPr sz="1000" b="0">
                <a:solidFill>
                  <a:srgbClr val="5C6472"/>
                </a:solidFill>
                <a:latin typeface="IBM Plex Mono"/>
              </a:rPr>
              <a:t>RESTRICTED / REGULATED WORKSPACE</a:t>
            </a:r>
          </a:p>
        </p:txBody>
      </p:sp>
      <p:sp>
        <p:nvSpPr>
          <p:cNvPr id="12" name="TextBox 11"/>
          <p:cNvSpPr txBox="1"/>
          <p:nvPr/>
        </p:nvSpPr>
        <p:spPr>
          <a:xfrm>
            <a:off x="1143000" y="3429000"/>
            <a:ext cx="1280160" cy="822960"/>
          </a:xfrm>
          <a:prstGeom prst="rect">
            <a:avLst/>
          </a:prstGeom>
          <a:noFill/>
        </p:spPr>
        <p:txBody>
          <a:bodyPr wrap="square" anchor="t" lIns="0" rIns="0" tIns="0" bIns="0">
            <a:spAutoFit/>
          </a:bodyPr>
          <a:lstStyle/>
          <a:p>
            <a:pPr algn="l">
              <a:lnSpc>
                <a:spcPct val="100000"/>
              </a:lnSpc>
              <a:spcAft>
                <a:spcPts val="400"/>
              </a:spcAft>
            </a:pPr>
            <a:r>
              <a:rPr sz="1050" b="1">
                <a:solidFill>
                  <a:srgbClr val="5C6472"/>
                </a:solidFill>
                <a:latin typeface="IBM Plex Mono"/>
              </a:rPr>
              <a:t>DETERMINISTIC</a:t>
            </a:r>
          </a:p>
        </p:txBody>
      </p:sp>
      <p:sp>
        <p:nvSpPr>
          <p:cNvPr id="13" name="TextBox 12"/>
          <p:cNvSpPr txBox="1"/>
          <p:nvPr/>
        </p:nvSpPr>
        <p:spPr>
          <a:xfrm>
            <a:off x="2423160" y="3429000"/>
            <a:ext cx="3200400" cy="822960"/>
          </a:xfrm>
          <a:prstGeom prst="rect">
            <a:avLst/>
          </a:prstGeom>
          <a:noFill/>
        </p:spPr>
        <p:txBody>
          <a:bodyPr wrap="square" anchor="t" lIns="0" rIns="0" tIns="0" bIns="0">
            <a:spAutoFit/>
          </a:bodyPr>
          <a:lstStyle/>
          <a:p>
            <a:pPr algn="l">
              <a:lnSpc>
                <a:spcPct val="112000"/>
              </a:lnSpc>
              <a:spcAft>
                <a:spcPts val="400"/>
              </a:spcAft>
            </a:pPr>
            <a:r>
              <a:rPr sz="1250" b="0">
                <a:solidFill>
                  <a:srgbClr val="1B1E24"/>
                </a:solidFill>
                <a:latin typeface="IBM Plex Sans"/>
              </a:rPr>
              <a:t>App  ·  CLI  ship as-is — no model, fully auditable.</a:t>
            </a:r>
          </a:p>
        </p:txBody>
      </p:sp>
      <p:sp>
        <p:nvSpPr>
          <p:cNvPr id="14" name="TextBox 13"/>
          <p:cNvSpPr txBox="1"/>
          <p:nvPr/>
        </p:nvSpPr>
        <p:spPr>
          <a:xfrm>
            <a:off x="1143000" y="4343400"/>
            <a:ext cx="1280160" cy="822960"/>
          </a:xfrm>
          <a:prstGeom prst="rect">
            <a:avLst/>
          </a:prstGeom>
          <a:noFill/>
        </p:spPr>
        <p:txBody>
          <a:bodyPr wrap="square" anchor="t" lIns="0" rIns="0" tIns="0" bIns="0">
            <a:spAutoFit/>
          </a:bodyPr>
          <a:lstStyle/>
          <a:p>
            <a:pPr algn="l">
              <a:lnSpc>
                <a:spcPct val="100000"/>
              </a:lnSpc>
              <a:spcAft>
                <a:spcPts val="400"/>
              </a:spcAft>
            </a:pPr>
            <a:r>
              <a:rPr sz="1050" b="1">
                <a:solidFill>
                  <a:srgbClr val="5C6472"/>
                </a:solidFill>
                <a:latin typeface="IBM Plex Mono"/>
              </a:rPr>
              <a:t>HYBRID</a:t>
            </a:r>
          </a:p>
        </p:txBody>
      </p:sp>
      <p:sp>
        <p:nvSpPr>
          <p:cNvPr id="15" name="TextBox 14"/>
          <p:cNvSpPr txBox="1"/>
          <p:nvPr/>
        </p:nvSpPr>
        <p:spPr>
          <a:xfrm>
            <a:off x="2423160" y="4343400"/>
            <a:ext cx="3200400" cy="822960"/>
          </a:xfrm>
          <a:prstGeom prst="rect">
            <a:avLst/>
          </a:prstGeom>
          <a:noFill/>
        </p:spPr>
        <p:txBody>
          <a:bodyPr wrap="square" anchor="t" lIns="0" rIns="0" tIns="0" bIns="0">
            <a:spAutoFit/>
          </a:bodyPr>
          <a:lstStyle/>
          <a:p>
            <a:pPr algn="l">
              <a:lnSpc>
                <a:spcPct val="112000"/>
              </a:lnSpc>
              <a:spcAft>
                <a:spcPts val="400"/>
              </a:spcAft>
            </a:pPr>
            <a:r>
              <a:rPr sz="1250" b="0">
                <a:solidFill>
                  <a:srgbClr val="1B1E24"/>
                </a:solidFill>
                <a:latin typeface="IBM Plex Sans"/>
              </a:rPr>
              <a:t>App toggle · CLI --endpoint when an FM endpoint is allowed; else stay deterministic.</a:t>
            </a:r>
          </a:p>
        </p:txBody>
      </p:sp>
      <p:sp>
        <p:nvSpPr>
          <p:cNvPr id="16" name="Rounded Rectangle 15"/>
          <p:cNvSpPr/>
          <p:nvPr/>
        </p:nvSpPr>
        <p:spPr>
          <a:xfrm>
            <a:off x="6263640" y="2423160"/>
            <a:ext cx="5074920" cy="2926080"/>
          </a:xfrm>
          <a:prstGeom prst="roundRect">
            <a:avLst>
              <a:gd name="adj" fmla="val 3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2423160"/>
            <a:ext cx="5074920" cy="777240"/>
          </a:xfrm>
          <a:prstGeom prst="roundRect">
            <a:avLst>
              <a:gd name="adj" fmla="val 5000"/>
            </a:avLst>
          </a:prstGeom>
          <a:solidFill>
            <a:srgbClr val="E7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3017520"/>
            <a:ext cx="5074920" cy="182880"/>
          </a:xfrm>
          <a:prstGeom prst="rect">
            <a:avLst/>
          </a:prstGeom>
          <a:solidFill>
            <a:srgbClr val="E7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0" y="2560320"/>
            <a:ext cx="4572000" cy="365760"/>
          </a:xfrm>
          <a:prstGeom prst="rect">
            <a:avLst/>
          </a:prstGeom>
          <a:noFill/>
        </p:spPr>
        <p:txBody>
          <a:bodyPr wrap="square" anchor="t" lIns="0" rIns="0" tIns="0" bIns="0">
            <a:spAutoFit/>
          </a:bodyPr>
          <a:lstStyle/>
          <a:p>
            <a:pPr algn="l">
              <a:lnSpc>
                <a:spcPct val="100000"/>
              </a:lnSpc>
              <a:spcAft>
                <a:spcPts val="400"/>
              </a:spcAft>
            </a:pPr>
            <a:r>
              <a:rPr sz="1600" b="1">
                <a:solidFill>
                  <a:srgbClr val="1B1E24"/>
                </a:solidFill>
                <a:latin typeface="Archivo"/>
              </a:rPr>
              <a:t>✅  Genie Code approved</a:t>
            </a:r>
          </a:p>
        </p:txBody>
      </p:sp>
      <p:sp>
        <p:nvSpPr>
          <p:cNvPr id="20" name="TextBox 19"/>
          <p:cNvSpPr txBox="1"/>
          <p:nvPr/>
        </p:nvSpPr>
        <p:spPr>
          <a:xfrm>
            <a:off x="6583680" y="2907792"/>
            <a:ext cx="4572000" cy="274320"/>
          </a:xfrm>
          <a:prstGeom prst="rect">
            <a:avLst/>
          </a:prstGeom>
          <a:noFill/>
        </p:spPr>
        <p:txBody>
          <a:bodyPr wrap="square" anchor="t" lIns="0" rIns="0" tIns="0" bIns="0">
            <a:spAutoFit/>
          </a:bodyPr>
          <a:lstStyle/>
          <a:p>
            <a:pPr algn="l">
              <a:lnSpc>
                <a:spcPct val="100000"/>
              </a:lnSpc>
              <a:spcAft>
                <a:spcPts val="400"/>
              </a:spcAft>
            </a:pPr>
            <a:r>
              <a:rPr sz="1000" b="0">
                <a:solidFill>
                  <a:srgbClr val="5C6472"/>
                </a:solidFill>
                <a:latin typeface="IBM Plex Mono"/>
              </a:rPr>
              <a:t>FLEXIBLE WORKSPACE</a:t>
            </a:r>
          </a:p>
        </p:txBody>
      </p:sp>
      <p:sp>
        <p:nvSpPr>
          <p:cNvPr id="21" name="TextBox 20"/>
          <p:cNvSpPr txBox="1"/>
          <p:nvPr/>
        </p:nvSpPr>
        <p:spPr>
          <a:xfrm>
            <a:off x="6583680" y="3429000"/>
            <a:ext cx="1280160" cy="822960"/>
          </a:xfrm>
          <a:prstGeom prst="rect">
            <a:avLst/>
          </a:prstGeom>
          <a:noFill/>
        </p:spPr>
        <p:txBody>
          <a:bodyPr wrap="square" anchor="t" lIns="0" rIns="0" tIns="0" bIns="0">
            <a:spAutoFit/>
          </a:bodyPr>
          <a:lstStyle/>
          <a:p>
            <a:pPr algn="l">
              <a:lnSpc>
                <a:spcPct val="100000"/>
              </a:lnSpc>
              <a:spcAft>
                <a:spcPts val="400"/>
              </a:spcAft>
            </a:pPr>
            <a:r>
              <a:rPr sz="1050" b="1">
                <a:solidFill>
                  <a:srgbClr val="5C6472"/>
                </a:solidFill>
                <a:latin typeface="IBM Plex Mono"/>
              </a:rPr>
              <a:t>DETERMINISTIC</a:t>
            </a:r>
          </a:p>
        </p:txBody>
      </p:sp>
      <p:sp>
        <p:nvSpPr>
          <p:cNvPr id="22" name="TextBox 21"/>
          <p:cNvSpPr txBox="1"/>
          <p:nvPr/>
        </p:nvSpPr>
        <p:spPr>
          <a:xfrm>
            <a:off x="7863840" y="3429000"/>
            <a:ext cx="3200400" cy="822960"/>
          </a:xfrm>
          <a:prstGeom prst="rect">
            <a:avLst/>
          </a:prstGeom>
          <a:noFill/>
        </p:spPr>
        <p:txBody>
          <a:bodyPr wrap="square" anchor="t" lIns="0" rIns="0" tIns="0" bIns="0">
            <a:spAutoFit/>
          </a:bodyPr>
          <a:lstStyle/>
          <a:p>
            <a:pPr algn="l">
              <a:lnSpc>
                <a:spcPct val="112000"/>
              </a:lnSpc>
              <a:spcAft>
                <a:spcPts val="400"/>
              </a:spcAft>
            </a:pPr>
            <a:r>
              <a:rPr sz="1250" b="0">
                <a:solidFill>
                  <a:srgbClr val="1B1E24"/>
                </a:solidFill>
                <a:latin typeface="IBM Plex Sans"/>
              </a:rPr>
              <a:t>Any surface — skill (llm off), or App / CLI.</a:t>
            </a:r>
          </a:p>
        </p:txBody>
      </p:sp>
      <p:sp>
        <p:nvSpPr>
          <p:cNvPr id="23" name="TextBox 22"/>
          <p:cNvSpPr txBox="1"/>
          <p:nvPr/>
        </p:nvSpPr>
        <p:spPr>
          <a:xfrm>
            <a:off x="6583680" y="4343400"/>
            <a:ext cx="1280160" cy="822960"/>
          </a:xfrm>
          <a:prstGeom prst="rect">
            <a:avLst/>
          </a:prstGeom>
          <a:noFill/>
        </p:spPr>
        <p:txBody>
          <a:bodyPr wrap="square" anchor="t" lIns="0" rIns="0" tIns="0" bIns="0">
            <a:spAutoFit/>
          </a:bodyPr>
          <a:lstStyle/>
          <a:p>
            <a:pPr algn="l">
              <a:lnSpc>
                <a:spcPct val="100000"/>
              </a:lnSpc>
              <a:spcAft>
                <a:spcPts val="400"/>
              </a:spcAft>
            </a:pPr>
            <a:r>
              <a:rPr sz="1050" b="1">
                <a:solidFill>
                  <a:srgbClr val="5C6472"/>
                </a:solidFill>
                <a:latin typeface="IBM Plex Mono"/>
              </a:rPr>
              <a:t>HYBRID</a:t>
            </a:r>
          </a:p>
        </p:txBody>
      </p:sp>
      <p:sp>
        <p:nvSpPr>
          <p:cNvPr id="24" name="TextBox 23"/>
          <p:cNvSpPr txBox="1"/>
          <p:nvPr/>
        </p:nvSpPr>
        <p:spPr>
          <a:xfrm>
            <a:off x="7863840" y="4343400"/>
            <a:ext cx="3200400" cy="822960"/>
          </a:xfrm>
          <a:prstGeom prst="rect">
            <a:avLst/>
          </a:prstGeom>
          <a:noFill/>
        </p:spPr>
        <p:txBody>
          <a:bodyPr wrap="square" anchor="t" lIns="0" rIns="0" tIns="0" bIns="0">
            <a:spAutoFit/>
          </a:bodyPr>
          <a:lstStyle/>
          <a:p>
            <a:pPr algn="l">
              <a:lnSpc>
                <a:spcPct val="112000"/>
              </a:lnSpc>
              <a:spcAft>
                <a:spcPts val="400"/>
              </a:spcAft>
            </a:pPr>
            <a:r>
              <a:rPr sz="1250" b="0">
                <a:solidFill>
                  <a:srgbClr val="1B1E24"/>
                </a:solidFill>
                <a:latin typeface="IBM Plex Sans"/>
              </a:rPr>
              <a:t>Genie Code skill — best: the agent reasons live. App / CLI + endpoint also work.</a:t>
            </a:r>
          </a:p>
        </p:txBody>
      </p:sp>
      <p:sp>
        <p:nvSpPr>
          <p:cNvPr id="25" name="TextBox 24"/>
          <p:cNvSpPr txBox="1"/>
          <p:nvPr/>
        </p:nvSpPr>
        <p:spPr>
          <a:xfrm>
            <a:off x="822960" y="5623560"/>
            <a:ext cx="10515600" cy="548640"/>
          </a:xfrm>
          <a:prstGeom prst="rect">
            <a:avLst/>
          </a:prstGeom>
          <a:noFill/>
        </p:spPr>
        <p:txBody>
          <a:bodyPr wrap="square" anchor="t" lIns="0" rIns="0" tIns="0" bIns="0">
            <a:spAutoFit/>
          </a:bodyPr>
          <a:lstStyle/>
          <a:p>
            <a:pPr algn="l">
              <a:lnSpc>
                <a:spcPct val="110000"/>
              </a:lnSpc>
              <a:spcAft>
                <a:spcPts val="400"/>
              </a:spcAft>
            </a:pPr>
            <a:r>
              <a:rPr sz="1250" b="0">
                <a:solidFill>
                  <a:srgbClr val="5C6472"/>
                </a:solidFill>
                <a:latin typeface="IBM Plex Sans"/>
              </a:rPr>
              <a:t>Same engine underneath — the RCA notebook is identical on every path. The choice is workspace policy and experience, never capability.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7E4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058400" cy="274320"/>
          </a:xfrm>
          <a:prstGeom prst="rect">
            <a:avLst/>
          </a:prstGeom>
          <a:noFill/>
        </p:spPr>
        <p:txBody>
          <a:bodyPr wrap="square" anchor="t" lIns="0" rIns="0" tIns="0" bIns="0">
            <a:spAutoFit/>
          </a:bodyPr>
          <a:lstStyle/>
          <a:p>
            <a:pPr algn="l">
              <a:lnSpc>
                <a:spcPct val="100000"/>
              </a:lnSpc>
              <a:spcAft>
                <a:spcPts val="400"/>
              </a:spcAft>
            </a:pPr>
            <a:r>
              <a:rPr sz="1200" b="1">
                <a:solidFill>
                  <a:srgbClr val="7E4CA8"/>
                </a:solidFill>
                <a:latin typeface="IBM Plex Mono"/>
              </a:rPr>
              <a:t>PROOF · LIVE DEMO</a:t>
            </a:r>
          </a:p>
        </p:txBody>
      </p:sp>
      <p:sp>
        <p:nvSpPr>
          <p:cNvPr id="5" name="TextBox 4"/>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Aft>
                <a:spcPts val="400"/>
              </a:spcAft>
            </a:pPr>
            <a:r>
              <a:rPr sz="2300" b="1">
                <a:solidFill>
                  <a:srgbClr val="1B1E24"/>
                </a:solidFill>
                <a:latin typeface="Archivo"/>
              </a:rPr>
              <a:t>Retail mart, Snowflake → Databricks, 2M rows — genuine Lakebridge reconcile.</a:t>
            </a:r>
          </a:p>
        </p:txBody>
      </p:sp>
      <p:sp>
        <p:nvSpPr>
          <p:cNvPr id="6" name="TextBox 5"/>
          <p:cNvSpPr txBox="1"/>
          <p:nvPr/>
        </p:nvSpPr>
        <p:spPr>
          <a:xfrm>
            <a:off x="822960" y="1645920"/>
            <a:ext cx="10515600" cy="548640"/>
          </a:xfrm>
          <a:prstGeom prst="rect">
            <a:avLst/>
          </a:prstGeom>
          <a:noFill/>
        </p:spPr>
        <p:txBody>
          <a:bodyPr wrap="square" anchor="t" lIns="0" rIns="0" tIns="0" bIns="0">
            <a:spAutoFit/>
          </a:bodyPr>
          <a:lstStyle/>
          <a:p>
            <a:pPr algn="l">
              <a:lnSpc>
                <a:spcPct val="115000"/>
              </a:lnSpc>
              <a:spcAft>
                <a:spcPts val="400"/>
              </a:spcAft>
            </a:pPr>
            <a:r>
              <a:rPr sz="1300" b="0">
                <a:solidFill>
                  <a:srgbClr val="5C6472"/>
                </a:solidFill>
                <a:latin typeface="IBM Plex Sans"/>
              </a:rPr>
              <a:t>Deterministic bed: 13 findings at 98%, every verdict query-confirmed. Hybrid bed adds three defects no rule can name — each precisely root-caused by the agentic tier and proven by a live reconstruction query:</a:t>
            </a:r>
          </a:p>
        </p:txBody>
      </p:sp>
      <p:sp>
        <p:nvSpPr>
          <p:cNvPr id="7" name="Rounded Rectangle 6"/>
          <p:cNvSpPr/>
          <p:nvPr/>
        </p:nvSpPr>
        <p:spPr>
          <a:xfrm>
            <a:off x="822960" y="2331720"/>
            <a:ext cx="3383280" cy="3566160"/>
          </a:xfrm>
          <a:prstGeom prst="roundRect">
            <a:avLst>
              <a:gd name="adj" fmla="val 4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97280" y="2560320"/>
            <a:ext cx="1737360" cy="310896"/>
          </a:xfrm>
          <a:prstGeom prst="roundRect">
            <a:avLst>
              <a:gd name="adj" fmla="val 50000"/>
            </a:avLst>
          </a:prstGeom>
          <a:solidFill>
            <a:srgbClr val="EFE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560320"/>
            <a:ext cx="1737360" cy="310896"/>
          </a:xfrm>
          <a:prstGeom prst="rect">
            <a:avLst/>
          </a:prstGeom>
          <a:noFill/>
        </p:spPr>
        <p:txBody>
          <a:bodyPr wrap="square" anchor="ctr" lIns="0" rIns="0" tIns="0" bIns="0">
            <a:spAutoFit/>
          </a:bodyPr>
          <a:lstStyle/>
          <a:p>
            <a:pPr algn="ctr">
              <a:lnSpc>
                <a:spcPct val="100000"/>
              </a:lnSpc>
              <a:spcAft>
                <a:spcPts val="400"/>
              </a:spcAft>
            </a:pPr>
            <a:r>
              <a:rPr sz="850" b="1">
                <a:solidFill>
                  <a:srgbClr val="7E4CA8"/>
                </a:solidFill>
                <a:latin typeface="IBM Plex Mono"/>
              </a:rPr>
              <a:t>AGENTIC · CONFIRMED</a:t>
            </a:r>
          </a:p>
        </p:txBody>
      </p:sp>
      <p:sp>
        <p:nvSpPr>
          <p:cNvPr id="10" name="TextBox 9"/>
          <p:cNvSpPr txBox="1"/>
          <p:nvPr/>
        </p:nvSpPr>
        <p:spPr>
          <a:xfrm>
            <a:off x="1097280" y="2971800"/>
            <a:ext cx="2926080" cy="274320"/>
          </a:xfrm>
          <a:prstGeom prst="rect">
            <a:avLst/>
          </a:prstGeom>
          <a:noFill/>
        </p:spPr>
        <p:txBody>
          <a:bodyPr wrap="square" anchor="t" lIns="0" rIns="0" tIns="0" bIns="0">
            <a:spAutoFit/>
          </a:bodyPr>
          <a:lstStyle/>
          <a:p>
            <a:pPr algn="l">
              <a:lnSpc>
                <a:spcPct val="100000"/>
              </a:lnSpc>
              <a:spcAft>
                <a:spcPts val="400"/>
              </a:spcAft>
            </a:pPr>
            <a:r>
              <a:rPr sz="1250" b="1">
                <a:solidFill>
                  <a:srgbClr val="1B1E24"/>
                </a:solidFill>
                <a:latin typeface="IBM Plex Mono"/>
              </a:rPr>
              <a:t>fact_sales.net_revenue</a:t>
            </a:r>
          </a:p>
        </p:txBody>
      </p:sp>
      <p:sp>
        <p:nvSpPr>
          <p:cNvPr id="11" name="Rounded Rectangle 10"/>
          <p:cNvSpPr/>
          <p:nvPr/>
        </p:nvSpPr>
        <p:spPr>
          <a:xfrm>
            <a:off x="1097280" y="3337560"/>
            <a:ext cx="2834640" cy="1051560"/>
          </a:xfrm>
          <a:prstGeom prst="roundRect">
            <a:avLst>
              <a:gd name="adj" fmla="val 6000"/>
            </a:avLst>
          </a:prstGeom>
          <a:solidFill>
            <a:srgbClr val="EFE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3401568"/>
            <a:ext cx="2651760" cy="960120"/>
          </a:xfrm>
          <a:prstGeom prst="rect">
            <a:avLst/>
          </a:prstGeom>
          <a:noFill/>
        </p:spPr>
        <p:txBody>
          <a:bodyPr wrap="square" anchor="t" lIns="0" rIns="0" tIns="0" bIns="0">
            <a:spAutoFit/>
          </a:bodyPr>
          <a:lstStyle/>
          <a:p>
            <a:pPr algn="l">
              <a:lnSpc>
                <a:spcPct val="105000"/>
              </a:lnSpc>
              <a:spcAft>
                <a:spcPts val="400"/>
              </a:spcAft>
            </a:pPr>
            <a:r>
              <a:rPr sz="950" b="0">
                <a:solidFill>
                  <a:srgbClr val="1B1E24"/>
                </a:solidFill>
                <a:latin typeface="IBM Plex Mono"/>
              </a:rPr>
              <a:t>ROUND(qty*price*(1+tax)
   - qty*price*discount, 4)</a:t>
            </a:r>
          </a:p>
        </p:txBody>
      </p:sp>
      <p:sp>
        <p:nvSpPr>
          <p:cNvPr id="13" name="TextBox 12"/>
          <p:cNvSpPr txBox="1"/>
          <p:nvPr/>
        </p:nvSpPr>
        <p:spPr>
          <a:xfrm>
            <a:off x="1097280" y="4526280"/>
            <a:ext cx="2926080" cy="1005840"/>
          </a:xfrm>
          <a:prstGeom prst="rect">
            <a:avLst/>
          </a:prstGeom>
          <a:noFill/>
        </p:spPr>
        <p:txBody>
          <a:bodyPr wrap="square" anchor="t" lIns="0" rIns="0" tIns="0" bIns="0">
            <a:spAutoFit/>
          </a:bodyPr>
          <a:lstStyle/>
          <a:p>
            <a:pPr algn="l">
              <a:lnSpc>
                <a:spcPct val="112000"/>
              </a:lnSpc>
              <a:spcAft>
                <a:spcPts val="400"/>
              </a:spcAft>
            </a:pPr>
            <a:r>
              <a:rPr sz="1200" b="1">
                <a:solidFill>
                  <a:srgbClr val="C56A2E"/>
                </a:solidFill>
                <a:latin typeface="IBM Plex Sans"/>
              </a:rPr>
              <a:t>Missing cross-term.</a:t>
            </a:r>
            <a:r>
              <a:rPr sz="1200" b="0">
                <a:solidFill>
                  <a:srgbClr val="5C6472"/>
                </a:solidFill>
                <a:latin typeface="IBM Plex Sans"/>
              </a:rPr>
              <a:t> Discount &amp; tax applied additively — the (1−d)(1+t) cross-term is dropped, inflating revenue.</a:t>
            </a:r>
          </a:p>
        </p:txBody>
      </p:sp>
      <p:sp>
        <p:nvSpPr>
          <p:cNvPr id="14" name="TextBox 13"/>
          <p:cNvSpPr txBox="1"/>
          <p:nvPr/>
        </p:nvSpPr>
        <p:spPr>
          <a:xfrm>
            <a:off x="1097280" y="5532120"/>
            <a:ext cx="2926080" cy="274320"/>
          </a:xfrm>
          <a:prstGeom prst="rect">
            <a:avLst/>
          </a:prstGeom>
          <a:noFill/>
        </p:spPr>
        <p:txBody>
          <a:bodyPr wrap="square" anchor="t" lIns="0" rIns="0" tIns="0" bIns="0">
            <a:spAutoFit/>
          </a:bodyPr>
          <a:lstStyle/>
          <a:p>
            <a:pPr algn="l">
              <a:lnSpc>
                <a:spcPct val="100000"/>
              </a:lnSpc>
              <a:spcAft>
                <a:spcPts val="400"/>
              </a:spcAft>
            </a:pPr>
            <a:r>
              <a:rPr sz="1100" b="1">
                <a:solidFill>
                  <a:srgbClr val="2E7D5B"/>
                </a:solidFill>
                <a:latin typeface="IBM Plex Mono"/>
              </a:rPr>
              <a:t>✓ query-confirmed · 95%</a:t>
            </a:r>
          </a:p>
        </p:txBody>
      </p:sp>
      <p:sp>
        <p:nvSpPr>
          <p:cNvPr id="15" name="Rounded Rectangle 14"/>
          <p:cNvSpPr/>
          <p:nvPr/>
        </p:nvSpPr>
        <p:spPr>
          <a:xfrm>
            <a:off x="4434840" y="2331720"/>
            <a:ext cx="3383280" cy="3566160"/>
          </a:xfrm>
          <a:prstGeom prst="roundRect">
            <a:avLst>
              <a:gd name="adj" fmla="val 4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709160" y="2560320"/>
            <a:ext cx="1737360" cy="310896"/>
          </a:xfrm>
          <a:prstGeom prst="roundRect">
            <a:avLst>
              <a:gd name="adj" fmla="val 50000"/>
            </a:avLst>
          </a:prstGeom>
          <a:solidFill>
            <a:srgbClr val="EFE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9160" y="2560320"/>
            <a:ext cx="1737360" cy="310896"/>
          </a:xfrm>
          <a:prstGeom prst="rect">
            <a:avLst/>
          </a:prstGeom>
          <a:noFill/>
        </p:spPr>
        <p:txBody>
          <a:bodyPr wrap="square" anchor="ctr" lIns="0" rIns="0" tIns="0" bIns="0">
            <a:spAutoFit/>
          </a:bodyPr>
          <a:lstStyle/>
          <a:p>
            <a:pPr algn="ctr">
              <a:lnSpc>
                <a:spcPct val="100000"/>
              </a:lnSpc>
              <a:spcAft>
                <a:spcPts val="400"/>
              </a:spcAft>
            </a:pPr>
            <a:r>
              <a:rPr sz="850" b="1">
                <a:solidFill>
                  <a:srgbClr val="7E4CA8"/>
                </a:solidFill>
                <a:latin typeface="IBM Plex Mono"/>
              </a:rPr>
              <a:t>AGENTIC · CONFIRMED</a:t>
            </a:r>
          </a:p>
        </p:txBody>
      </p:sp>
      <p:sp>
        <p:nvSpPr>
          <p:cNvPr id="18" name="TextBox 17"/>
          <p:cNvSpPr txBox="1"/>
          <p:nvPr/>
        </p:nvSpPr>
        <p:spPr>
          <a:xfrm>
            <a:off x="4709160" y="2971800"/>
            <a:ext cx="2926080" cy="274320"/>
          </a:xfrm>
          <a:prstGeom prst="rect">
            <a:avLst/>
          </a:prstGeom>
          <a:noFill/>
        </p:spPr>
        <p:txBody>
          <a:bodyPr wrap="square" anchor="t" lIns="0" rIns="0" tIns="0" bIns="0">
            <a:spAutoFit/>
          </a:bodyPr>
          <a:lstStyle/>
          <a:p>
            <a:pPr algn="l">
              <a:lnSpc>
                <a:spcPct val="100000"/>
              </a:lnSpc>
              <a:spcAft>
                <a:spcPts val="400"/>
              </a:spcAft>
            </a:pPr>
            <a:r>
              <a:rPr sz="1250" b="1">
                <a:solidFill>
                  <a:srgbClr val="1B1E24"/>
                </a:solidFill>
                <a:latin typeface="IBM Plex Mono"/>
              </a:rPr>
              <a:t>fact_sales.amount_usd</a:t>
            </a:r>
          </a:p>
        </p:txBody>
      </p:sp>
      <p:sp>
        <p:nvSpPr>
          <p:cNvPr id="19" name="Rounded Rectangle 18"/>
          <p:cNvSpPr/>
          <p:nvPr/>
        </p:nvSpPr>
        <p:spPr>
          <a:xfrm>
            <a:off x="4709160" y="3337560"/>
            <a:ext cx="2834640" cy="1051560"/>
          </a:xfrm>
          <a:prstGeom prst="roundRect">
            <a:avLst>
              <a:gd name="adj" fmla="val 6000"/>
            </a:avLst>
          </a:prstGeom>
          <a:solidFill>
            <a:srgbClr val="EFE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3401568"/>
            <a:ext cx="2651760" cy="960120"/>
          </a:xfrm>
          <a:prstGeom prst="rect">
            <a:avLst/>
          </a:prstGeom>
          <a:noFill/>
        </p:spPr>
        <p:txBody>
          <a:bodyPr wrap="square" anchor="t" lIns="0" rIns="0" tIns="0" bIns="0">
            <a:spAutoFit/>
          </a:bodyPr>
          <a:lstStyle/>
          <a:p>
            <a:pPr algn="l">
              <a:lnSpc>
                <a:spcPct val="105000"/>
              </a:lnSpc>
              <a:spcAft>
                <a:spcPts val="400"/>
              </a:spcAft>
            </a:pPr>
            <a:r>
              <a:rPr sz="950" b="0">
                <a:solidFill>
                  <a:srgbClr val="1B1E24"/>
                </a:solidFill>
                <a:latin typeface="IBM Plex Mono"/>
              </a:rPr>
              <a:t>JOIN dim_fx
  ON fx_date =
     trunc(dt,'MM')</a:t>
            </a:r>
          </a:p>
        </p:txBody>
      </p:sp>
      <p:sp>
        <p:nvSpPr>
          <p:cNvPr id="21" name="TextBox 20"/>
          <p:cNvSpPr txBox="1"/>
          <p:nvPr/>
        </p:nvSpPr>
        <p:spPr>
          <a:xfrm>
            <a:off x="4709160" y="4526280"/>
            <a:ext cx="2926080" cy="1005840"/>
          </a:xfrm>
          <a:prstGeom prst="rect">
            <a:avLst/>
          </a:prstGeom>
          <a:noFill/>
        </p:spPr>
        <p:txBody>
          <a:bodyPr wrap="square" anchor="t" lIns="0" rIns="0" tIns="0" bIns="0">
            <a:spAutoFit/>
          </a:bodyPr>
          <a:lstStyle/>
          <a:p>
            <a:pPr algn="l">
              <a:lnSpc>
                <a:spcPct val="112000"/>
              </a:lnSpc>
              <a:spcAft>
                <a:spcPts val="400"/>
              </a:spcAft>
            </a:pPr>
            <a:r>
              <a:rPr sz="1200" b="1">
                <a:solidFill>
                  <a:srgbClr val="C56A2E"/>
                </a:solidFill>
                <a:latin typeface="IBM Plex Sans"/>
              </a:rPr>
              <a:t>FX join grain.</a:t>
            </a:r>
            <a:r>
              <a:rPr sz="1200" b="0">
                <a:solidFill>
                  <a:srgbClr val="5C6472"/>
                </a:solidFill>
                <a:latin typeface="IBM Plex Sans"/>
              </a:rPr>
              <a:t> Joined at month-start instead of the daily rate — intra-month drift is lost.</a:t>
            </a:r>
          </a:p>
        </p:txBody>
      </p:sp>
      <p:sp>
        <p:nvSpPr>
          <p:cNvPr id="22" name="TextBox 21"/>
          <p:cNvSpPr txBox="1"/>
          <p:nvPr/>
        </p:nvSpPr>
        <p:spPr>
          <a:xfrm>
            <a:off x="4709160" y="5532120"/>
            <a:ext cx="2926080" cy="274320"/>
          </a:xfrm>
          <a:prstGeom prst="rect">
            <a:avLst/>
          </a:prstGeom>
          <a:noFill/>
        </p:spPr>
        <p:txBody>
          <a:bodyPr wrap="square" anchor="t" lIns="0" rIns="0" tIns="0" bIns="0">
            <a:spAutoFit/>
          </a:bodyPr>
          <a:lstStyle/>
          <a:p>
            <a:pPr algn="l">
              <a:lnSpc>
                <a:spcPct val="100000"/>
              </a:lnSpc>
              <a:spcAft>
                <a:spcPts val="400"/>
              </a:spcAft>
            </a:pPr>
            <a:r>
              <a:rPr sz="1100" b="1">
                <a:solidFill>
                  <a:srgbClr val="2E7D5B"/>
                </a:solidFill>
                <a:latin typeface="IBM Plex Mono"/>
              </a:rPr>
              <a:t>✓ query-confirmed · 95%</a:t>
            </a:r>
          </a:p>
        </p:txBody>
      </p:sp>
      <p:sp>
        <p:nvSpPr>
          <p:cNvPr id="23" name="Rounded Rectangle 22"/>
          <p:cNvSpPr/>
          <p:nvPr/>
        </p:nvSpPr>
        <p:spPr>
          <a:xfrm>
            <a:off x="8046720" y="2331720"/>
            <a:ext cx="3383280" cy="3566160"/>
          </a:xfrm>
          <a:prstGeom prst="roundRect">
            <a:avLst>
              <a:gd name="adj" fmla="val 4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21040" y="2560320"/>
            <a:ext cx="1737360" cy="310896"/>
          </a:xfrm>
          <a:prstGeom prst="roundRect">
            <a:avLst>
              <a:gd name="adj" fmla="val 50000"/>
            </a:avLst>
          </a:prstGeom>
          <a:solidFill>
            <a:srgbClr val="EFE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0" y="2560320"/>
            <a:ext cx="1737360" cy="310896"/>
          </a:xfrm>
          <a:prstGeom prst="rect">
            <a:avLst/>
          </a:prstGeom>
          <a:noFill/>
        </p:spPr>
        <p:txBody>
          <a:bodyPr wrap="square" anchor="ctr" lIns="0" rIns="0" tIns="0" bIns="0">
            <a:spAutoFit/>
          </a:bodyPr>
          <a:lstStyle/>
          <a:p>
            <a:pPr algn="ctr">
              <a:lnSpc>
                <a:spcPct val="100000"/>
              </a:lnSpc>
              <a:spcAft>
                <a:spcPts val="400"/>
              </a:spcAft>
            </a:pPr>
            <a:r>
              <a:rPr sz="850" b="1">
                <a:solidFill>
                  <a:srgbClr val="7E4CA8"/>
                </a:solidFill>
                <a:latin typeface="IBM Plex Mono"/>
              </a:rPr>
              <a:t>AGENTIC · CONFIRMED</a:t>
            </a:r>
          </a:p>
        </p:txBody>
      </p:sp>
      <p:sp>
        <p:nvSpPr>
          <p:cNvPr id="26" name="TextBox 25"/>
          <p:cNvSpPr txBox="1"/>
          <p:nvPr/>
        </p:nvSpPr>
        <p:spPr>
          <a:xfrm>
            <a:off x="8321040" y="2971800"/>
            <a:ext cx="2926080" cy="274320"/>
          </a:xfrm>
          <a:prstGeom prst="rect">
            <a:avLst/>
          </a:prstGeom>
          <a:noFill/>
        </p:spPr>
        <p:txBody>
          <a:bodyPr wrap="square" anchor="t" lIns="0" rIns="0" tIns="0" bIns="0">
            <a:spAutoFit/>
          </a:bodyPr>
          <a:lstStyle/>
          <a:p>
            <a:pPr algn="l">
              <a:lnSpc>
                <a:spcPct val="100000"/>
              </a:lnSpc>
              <a:spcAft>
                <a:spcPts val="400"/>
              </a:spcAft>
            </a:pPr>
            <a:r>
              <a:rPr sz="1250" b="1">
                <a:solidFill>
                  <a:srgbClr val="1B1E24"/>
                </a:solidFill>
                <a:latin typeface="IBM Plex Mono"/>
              </a:rPr>
              <a:t>fact_sales.status_bucket</a:t>
            </a:r>
          </a:p>
        </p:txBody>
      </p:sp>
      <p:sp>
        <p:nvSpPr>
          <p:cNvPr id="27" name="Rounded Rectangle 26"/>
          <p:cNvSpPr/>
          <p:nvPr/>
        </p:nvSpPr>
        <p:spPr>
          <a:xfrm>
            <a:off x="8321040" y="3337560"/>
            <a:ext cx="2834640" cy="1051560"/>
          </a:xfrm>
          <a:prstGeom prst="roundRect">
            <a:avLst>
              <a:gd name="adj" fmla="val 6000"/>
            </a:avLst>
          </a:prstGeom>
          <a:solidFill>
            <a:srgbClr val="EFE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58200" y="3401568"/>
            <a:ext cx="2651760" cy="960120"/>
          </a:xfrm>
          <a:prstGeom prst="rect">
            <a:avLst/>
          </a:prstGeom>
          <a:noFill/>
        </p:spPr>
        <p:txBody>
          <a:bodyPr wrap="square" anchor="t" lIns="0" rIns="0" tIns="0" bIns="0">
            <a:spAutoFit/>
          </a:bodyPr>
          <a:lstStyle/>
          <a:p>
            <a:pPr algn="l">
              <a:lnSpc>
                <a:spcPct val="105000"/>
              </a:lnSpc>
              <a:spcAft>
                <a:spcPts val="400"/>
              </a:spcAft>
            </a:pPr>
            <a:r>
              <a:rPr sz="950" b="0">
                <a:solidFill>
                  <a:srgbClr val="1B1E24"/>
                </a:solidFill>
                <a:latin typeface="IBM Plex Mono"/>
              </a:rPr>
              <a:t>CASE status_code
  WHEN 'A'..'C'..'P'
  ELSE 'Unknown' END</a:t>
            </a:r>
          </a:p>
        </p:txBody>
      </p:sp>
      <p:sp>
        <p:nvSpPr>
          <p:cNvPr id="29" name="TextBox 28"/>
          <p:cNvSpPr txBox="1"/>
          <p:nvPr/>
        </p:nvSpPr>
        <p:spPr>
          <a:xfrm>
            <a:off x="8321040" y="4526280"/>
            <a:ext cx="2926080" cy="1005840"/>
          </a:xfrm>
          <a:prstGeom prst="rect">
            <a:avLst/>
          </a:prstGeom>
          <a:noFill/>
        </p:spPr>
        <p:txBody>
          <a:bodyPr wrap="square" anchor="t" lIns="0" rIns="0" tIns="0" bIns="0">
            <a:spAutoFit/>
          </a:bodyPr>
          <a:lstStyle/>
          <a:p>
            <a:pPr algn="l">
              <a:lnSpc>
                <a:spcPct val="112000"/>
              </a:lnSpc>
              <a:spcAft>
                <a:spcPts val="400"/>
              </a:spcAft>
            </a:pPr>
            <a:r>
              <a:rPr sz="1200" b="1">
                <a:solidFill>
                  <a:srgbClr val="C56A2E"/>
                </a:solidFill>
                <a:latin typeface="IBM Plex Sans"/>
              </a:rPr>
              <a:t>Dropped CASE branch.</a:t>
            </a:r>
            <a:r>
              <a:rPr sz="1200" b="0">
                <a:solidFill>
                  <a:srgbClr val="5C6472"/>
                </a:solidFill>
                <a:latin typeface="IBM Plex Sans"/>
              </a:rPr>
              <a:t> No arm for 'R' (Returned) — those rows collapse to 'Unknown'.</a:t>
            </a:r>
          </a:p>
        </p:txBody>
      </p:sp>
      <p:sp>
        <p:nvSpPr>
          <p:cNvPr id="30" name="TextBox 29"/>
          <p:cNvSpPr txBox="1"/>
          <p:nvPr/>
        </p:nvSpPr>
        <p:spPr>
          <a:xfrm>
            <a:off x="8321040" y="5532120"/>
            <a:ext cx="2926080" cy="274320"/>
          </a:xfrm>
          <a:prstGeom prst="rect">
            <a:avLst/>
          </a:prstGeom>
          <a:noFill/>
        </p:spPr>
        <p:txBody>
          <a:bodyPr wrap="square" anchor="t" lIns="0" rIns="0" tIns="0" bIns="0">
            <a:spAutoFit/>
          </a:bodyPr>
          <a:lstStyle/>
          <a:p>
            <a:pPr algn="l">
              <a:lnSpc>
                <a:spcPct val="100000"/>
              </a:lnSpc>
              <a:spcAft>
                <a:spcPts val="400"/>
              </a:spcAft>
            </a:pPr>
            <a:r>
              <a:rPr sz="1100" b="1">
                <a:solidFill>
                  <a:srgbClr val="2E7D5B"/>
                </a:solidFill>
                <a:latin typeface="IBM Plex Mono"/>
              </a:rPr>
              <a:t>✓ query-confirmed · 95%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058400" cy="274320"/>
          </a:xfrm>
          <a:prstGeom prst="rect">
            <a:avLst/>
          </a:prstGeom>
          <a:noFill/>
        </p:spPr>
        <p:txBody>
          <a:bodyPr wrap="square" anchor="t" lIns="0" rIns="0" tIns="0" bIns="0">
            <a:spAutoFit/>
          </a:bodyPr>
          <a:lstStyle/>
          <a:p>
            <a:pPr algn="l">
              <a:lnSpc>
                <a:spcPct val="100000"/>
              </a:lnSpc>
              <a:spcAft>
                <a:spcPts val="400"/>
              </a:spcAft>
            </a:pPr>
            <a:r>
              <a:rPr sz="1200" b="1">
                <a:solidFill>
                  <a:srgbClr val="C56A2E"/>
                </a:solidFill>
                <a:latin typeface="IBM Plex Mono"/>
              </a:rPr>
              <a:t>BENCHMARKS · MEASURED ON PS-DR-EAST</a:t>
            </a:r>
          </a:p>
        </p:txBody>
      </p:sp>
      <p:sp>
        <p:nvSpPr>
          <p:cNvPr id="5" name="TextBox 4"/>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Aft>
                <a:spcPts val="400"/>
              </a:spcAft>
            </a:pPr>
            <a:r>
              <a:rPr sz="2500" b="1">
                <a:solidFill>
                  <a:srgbClr val="1B1E24"/>
                </a:solidFill>
                <a:latin typeface="Archivo"/>
              </a:rPr>
              <a:t>Correct, fast, and scale-bounded on genuine reconcile output.</a:t>
            </a:r>
          </a:p>
        </p:txBody>
      </p:sp>
      <p:sp>
        <p:nvSpPr>
          <p:cNvPr id="6" name="Rounded Rectangle 5"/>
          <p:cNvSpPr/>
          <p:nvPr/>
        </p:nvSpPr>
        <p:spPr>
          <a:xfrm>
            <a:off x="822960" y="2148840"/>
            <a:ext cx="2514600" cy="1508760"/>
          </a:xfrm>
          <a:prstGeom prst="roundRect">
            <a:avLst>
              <a:gd name="adj" fmla="val 6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2286000"/>
            <a:ext cx="2194560" cy="640080"/>
          </a:xfrm>
          <a:prstGeom prst="rect">
            <a:avLst/>
          </a:prstGeom>
          <a:noFill/>
        </p:spPr>
        <p:txBody>
          <a:bodyPr wrap="square" anchor="t" lIns="0" rIns="0" tIns="0" bIns="0">
            <a:spAutoFit/>
          </a:bodyPr>
          <a:lstStyle/>
          <a:p>
            <a:pPr algn="l">
              <a:lnSpc>
                <a:spcPct val="100000"/>
              </a:lnSpc>
              <a:spcAft>
                <a:spcPts val="400"/>
              </a:spcAft>
            </a:pPr>
            <a:r>
              <a:rPr sz="3400" b="1">
                <a:solidFill>
                  <a:srgbClr val="C56A2E"/>
                </a:solidFill>
                <a:latin typeface="Archivo"/>
              </a:rPr>
              <a:t>100%</a:t>
            </a:r>
          </a:p>
        </p:txBody>
      </p:sp>
      <p:sp>
        <p:nvSpPr>
          <p:cNvPr id="8" name="TextBox 7"/>
          <p:cNvSpPr txBox="1"/>
          <p:nvPr/>
        </p:nvSpPr>
        <p:spPr>
          <a:xfrm>
            <a:off x="1078992" y="2971800"/>
            <a:ext cx="2103120" cy="640080"/>
          </a:xfrm>
          <a:prstGeom prst="rect">
            <a:avLst/>
          </a:prstGeom>
          <a:noFill/>
        </p:spPr>
        <p:txBody>
          <a:bodyPr wrap="square" anchor="t" lIns="0" rIns="0" tIns="0" bIns="0">
            <a:spAutoFit/>
          </a:bodyPr>
          <a:lstStyle/>
          <a:p>
            <a:pPr algn="l">
              <a:lnSpc>
                <a:spcPct val="105000"/>
              </a:lnSpc>
              <a:spcAft>
                <a:spcPts val="400"/>
              </a:spcAft>
            </a:pPr>
            <a:r>
              <a:rPr sz="1050" b="0">
                <a:solidFill>
                  <a:srgbClr val="5C6472"/>
                </a:solidFill>
                <a:latin typeface="IBM Plex Sans"/>
              </a:rPr>
              <a:t>Seeded defects detected &amp; correctly classified</a:t>
            </a:r>
          </a:p>
        </p:txBody>
      </p:sp>
      <p:sp>
        <p:nvSpPr>
          <p:cNvPr id="9" name="Rounded Rectangle 8"/>
          <p:cNvSpPr/>
          <p:nvPr/>
        </p:nvSpPr>
        <p:spPr>
          <a:xfrm>
            <a:off x="3547872" y="2148840"/>
            <a:ext cx="2514600" cy="1508760"/>
          </a:xfrm>
          <a:prstGeom prst="roundRect">
            <a:avLst>
              <a:gd name="adj" fmla="val 6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03904" y="2286000"/>
            <a:ext cx="2194560" cy="640080"/>
          </a:xfrm>
          <a:prstGeom prst="rect">
            <a:avLst/>
          </a:prstGeom>
          <a:noFill/>
        </p:spPr>
        <p:txBody>
          <a:bodyPr wrap="square" anchor="t" lIns="0" rIns="0" tIns="0" bIns="0">
            <a:spAutoFit/>
          </a:bodyPr>
          <a:lstStyle/>
          <a:p>
            <a:pPr algn="l">
              <a:lnSpc>
                <a:spcPct val="100000"/>
              </a:lnSpc>
              <a:spcAft>
                <a:spcPts val="400"/>
              </a:spcAft>
            </a:pPr>
            <a:r>
              <a:rPr sz="3400" b="1">
                <a:solidFill>
                  <a:srgbClr val="1B1E24"/>
                </a:solidFill>
                <a:latin typeface="Archivo"/>
              </a:rPr>
              <a:t>7/7</a:t>
            </a:r>
          </a:p>
        </p:txBody>
      </p:sp>
      <p:sp>
        <p:nvSpPr>
          <p:cNvPr id="11" name="TextBox 10"/>
          <p:cNvSpPr txBox="1"/>
          <p:nvPr/>
        </p:nvSpPr>
        <p:spPr>
          <a:xfrm>
            <a:off x="3803904" y="2971800"/>
            <a:ext cx="2103120" cy="640080"/>
          </a:xfrm>
          <a:prstGeom prst="rect">
            <a:avLst/>
          </a:prstGeom>
          <a:noFill/>
        </p:spPr>
        <p:txBody>
          <a:bodyPr wrap="square" anchor="t" lIns="0" rIns="0" tIns="0" bIns="0">
            <a:spAutoFit/>
          </a:bodyPr>
          <a:lstStyle/>
          <a:p>
            <a:pPr algn="l">
              <a:lnSpc>
                <a:spcPct val="105000"/>
              </a:lnSpc>
              <a:spcAft>
                <a:spcPts val="400"/>
              </a:spcAft>
            </a:pPr>
            <a:r>
              <a:rPr sz="1050" b="0">
                <a:solidFill>
                  <a:srgbClr val="5C6472"/>
                </a:solidFill>
                <a:latin typeface="IBM Plex Sans"/>
              </a:rPr>
              <a:t>Hybrid findings query-confirmed (4 det + 3 agentic)</a:t>
            </a:r>
          </a:p>
        </p:txBody>
      </p:sp>
      <p:sp>
        <p:nvSpPr>
          <p:cNvPr id="12" name="Rounded Rectangle 11"/>
          <p:cNvSpPr/>
          <p:nvPr/>
        </p:nvSpPr>
        <p:spPr>
          <a:xfrm>
            <a:off x="6272784" y="2148840"/>
            <a:ext cx="2514600" cy="1508760"/>
          </a:xfrm>
          <a:prstGeom prst="roundRect">
            <a:avLst>
              <a:gd name="adj" fmla="val 6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286000"/>
            <a:ext cx="2194560" cy="640080"/>
          </a:xfrm>
          <a:prstGeom prst="rect">
            <a:avLst/>
          </a:prstGeom>
          <a:noFill/>
        </p:spPr>
        <p:txBody>
          <a:bodyPr wrap="square" anchor="t" lIns="0" rIns="0" tIns="0" bIns="0">
            <a:spAutoFit/>
          </a:bodyPr>
          <a:lstStyle/>
          <a:p>
            <a:pPr algn="l">
              <a:lnSpc>
                <a:spcPct val="100000"/>
              </a:lnSpc>
              <a:spcAft>
                <a:spcPts val="400"/>
              </a:spcAft>
            </a:pPr>
            <a:r>
              <a:rPr sz="3400" b="1">
                <a:solidFill>
                  <a:srgbClr val="1B1E24"/>
                </a:solidFill>
                <a:latin typeface="Archivo"/>
              </a:rPr>
              <a:t>~270s</a:t>
            </a:r>
          </a:p>
        </p:txBody>
      </p:sp>
      <p:sp>
        <p:nvSpPr>
          <p:cNvPr id="14" name="TextBox 13"/>
          <p:cNvSpPr txBox="1"/>
          <p:nvPr/>
        </p:nvSpPr>
        <p:spPr>
          <a:xfrm>
            <a:off x="6528816" y="2971800"/>
            <a:ext cx="2103120" cy="640080"/>
          </a:xfrm>
          <a:prstGeom prst="rect">
            <a:avLst/>
          </a:prstGeom>
          <a:noFill/>
        </p:spPr>
        <p:txBody>
          <a:bodyPr wrap="square" anchor="t" lIns="0" rIns="0" tIns="0" bIns="0">
            <a:spAutoFit/>
          </a:bodyPr>
          <a:lstStyle/>
          <a:p>
            <a:pPr algn="l">
              <a:lnSpc>
                <a:spcPct val="105000"/>
              </a:lnSpc>
              <a:spcAft>
                <a:spcPts val="400"/>
              </a:spcAft>
            </a:pPr>
            <a:r>
              <a:rPr sz="1050" b="0">
                <a:solidFill>
                  <a:srgbClr val="5C6472"/>
                </a:solidFill>
                <a:latin typeface="IBM Plex Sans"/>
              </a:rPr>
              <a:t>Deterministic RCA · 3 tables · 2M rows · full enrichment</a:t>
            </a:r>
          </a:p>
        </p:txBody>
      </p:sp>
      <p:sp>
        <p:nvSpPr>
          <p:cNvPr id="15" name="Rounded Rectangle 14"/>
          <p:cNvSpPr/>
          <p:nvPr/>
        </p:nvSpPr>
        <p:spPr>
          <a:xfrm>
            <a:off x="8997696" y="2148840"/>
            <a:ext cx="2514600" cy="1508760"/>
          </a:xfrm>
          <a:prstGeom prst="roundRect">
            <a:avLst>
              <a:gd name="adj" fmla="val 6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53728" y="2286000"/>
            <a:ext cx="2194560" cy="640080"/>
          </a:xfrm>
          <a:prstGeom prst="rect">
            <a:avLst/>
          </a:prstGeom>
          <a:noFill/>
        </p:spPr>
        <p:txBody>
          <a:bodyPr wrap="square" anchor="t" lIns="0" rIns="0" tIns="0" bIns="0">
            <a:spAutoFit/>
          </a:bodyPr>
          <a:lstStyle/>
          <a:p>
            <a:pPr algn="l">
              <a:lnSpc>
                <a:spcPct val="100000"/>
              </a:lnSpc>
              <a:spcAft>
                <a:spcPts val="400"/>
              </a:spcAft>
            </a:pPr>
            <a:r>
              <a:rPr sz="3400" b="1">
                <a:solidFill>
                  <a:srgbClr val="1B1E24"/>
                </a:solidFill>
                <a:latin typeface="Archivo"/>
              </a:rPr>
              <a:t>6/6</a:t>
            </a:r>
          </a:p>
        </p:txBody>
      </p:sp>
      <p:sp>
        <p:nvSpPr>
          <p:cNvPr id="17" name="TextBox 16"/>
          <p:cNvSpPr txBox="1"/>
          <p:nvPr/>
        </p:nvSpPr>
        <p:spPr>
          <a:xfrm>
            <a:off x="9253728" y="2971800"/>
            <a:ext cx="2103120" cy="640080"/>
          </a:xfrm>
          <a:prstGeom prst="rect">
            <a:avLst/>
          </a:prstGeom>
          <a:noFill/>
        </p:spPr>
        <p:txBody>
          <a:bodyPr wrap="square" anchor="t" lIns="0" rIns="0" tIns="0" bIns="0">
            <a:spAutoFit/>
          </a:bodyPr>
          <a:lstStyle/>
          <a:p>
            <a:pPr algn="l">
              <a:lnSpc>
                <a:spcPct val="105000"/>
              </a:lnSpc>
              <a:spcAft>
                <a:spcPts val="400"/>
              </a:spcAft>
            </a:pPr>
            <a:r>
              <a:rPr sz="1050" b="0">
                <a:solidFill>
                  <a:srgbClr val="5C6472"/>
                </a:solidFill>
                <a:latin typeface="IBM Plex Sans"/>
              </a:rPr>
              <a:t>Concurrent RCA runs succeeded — ~500s wall (fleet)</a:t>
            </a:r>
          </a:p>
        </p:txBody>
      </p:sp>
      <p:sp>
        <p:nvSpPr>
          <p:cNvPr id="18" name="Rounded Rectangle 17"/>
          <p:cNvSpPr/>
          <p:nvPr/>
        </p:nvSpPr>
        <p:spPr>
          <a:xfrm>
            <a:off x="822960" y="3931920"/>
            <a:ext cx="10515600" cy="2331720"/>
          </a:xfrm>
          <a:prstGeom prst="roundRect">
            <a:avLst>
              <a:gd name="adj" fmla="val 2000"/>
            </a:avLst>
          </a:prstGeom>
          <a:solidFill>
            <a:srgbClr val="FFFFFF"/>
          </a:solidFill>
          <a:ln w="12700">
            <a:solidFill>
              <a:srgbClr val="E4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114800"/>
            <a:ext cx="7315200" cy="320040"/>
          </a:xfrm>
          <a:prstGeom prst="rect">
            <a:avLst/>
          </a:prstGeom>
          <a:noFill/>
        </p:spPr>
        <p:txBody>
          <a:bodyPr wrap="square" anchor="t" lIns="0" rIns="0" tIns="0" bIns="0">
            <a:spAutoFit/>
          </a:bodyPr>
          <a:lstStyle/>
          <a:p>
            <a:pPr algn="l">
              <a:lnSpc>
                <a:spcPct val="100000"/>
              </a:lnSpc>
              <a:spcAft>
                <a:spcPts val="400"/>
              </a:spcAft>
            </a:pPr>
            <a:r>
              <a:rPr sz="1500" b="1">
                <a:solidFill>
                  <a:srgbClr val="1B1E24"/>
                </a:solidFill>
                <a:latin typeface="Archivo"/>
              </a:rPr>
              <a:t>Stage latency</a:t>
            </a:r>
            <a:r>
              <a:rPr sz="1100" b="0">
                <a:solidFill>
                  <a:srgbClr val="5C6472"/>
                </a:solidFill>
                <a:latin typeface="IBM Plex Mono"/>
              </a:rPr>
              <a:t>   2M-row retail bed · seconds</a:t>
            </a:r>
          </a:p>
        </p:txBody>
      </p:sp>
      <p:sp>
        <p:nvSpPr>
          <p:cNvPr id="20" name="TextBox 19"/>
          <p:cNvSpPr txBox="1"/>
          <p:nvPr/>
        </p:nvSpPr>
        <p:spPr>
          <a:xfrm>
            <a:off x="1097280" y="4590288"/>
            <a:ext cx="2468880" cy="274320"/>
          </a:xfrm>
          <a:prstGeom prst="rect">
            <a:avLst/>
          </a:prstGeom>
          <a:noFill/>
        </p:spPr>
        <p:txBody>
          <a:bodyPr wrap="square" anchor="t" lIns="0" rIns="0" tIns="0" bIns="0">
            <a:spAutoFit/>
          </a:bodyPr>
          <a:lstStyle/>
          <a:p>
            <a:pPr algn="l">
              <a:lnSpc>
                <a:spcPct val="100000"/>
              </a:lnSpc>
              <a:spcAft>
                <a:spcPts val="400"/>
              </a:spcAft>
            </a:pPr>
            <a:r>
              <a:rPr sz="1050" b="0">
                <a:solidFill>
                  <a:srgbClr val="5C6472"/>
                </a:solidFill>
                <a:latin typeface="IBM Plex Mono"/>
              </a:rPr>
              <a:t>Reconcile (warm)</a:t>
            </a:r>
          </a:p>
        </p:txBody>
      </p:sp>
      <p:sp>
        <p:nvSpPr>
          <p:cNvPr id="21" name="Rounded Rectangle 20"/>
          <p:cNvSpPr/>
          <p:nvPr/>
        </p:nvSpPr>
        <p:spPr>
          <a:xfrm>
            <a:off x="3657600" y="4617720"/>
            <a:ext cx="6949440" cy="219456"/>
          </a:xfrm>
          <a:prstGeom prst="roundRect">
            <a:avLst>
              <a:gd name="adj" fmla="val 40000"/>
            </a:avLst>
          </a:prstGeom>
          <a:solidFill>
            <a:srgbClr val="2B5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98480" y="4590288"/>
            <a:ext cx="1097280" cy="274320"/>
          </a:xfrm>
          <a:prstGeom prst="rect">
            <a:avLst/>
          </a:prstGeom>
          <a:noFill/>
        </p:spPr>
        <p:txBody>
          <a:bodyPr wrap="square" anchor="t" lIns="0" rIns="0" tIns="0" bIns="0">
            <a:spAutoFit/>
          </a:bodyPr>
          <a:lstStyle/>
          <a:p>
            <a:pPr algn="l">
              <a:lnSpc>
                <a:spcPct val="100000"/>
              </a:lnSpc>
              <a:spcAft>
                <a:spcPts val="400"/>
              </a:spcAft>
            </a:pPr>
            <a:r>
              <a:rPr sz="1050" b="1">
                <a:solidFill>
                  <a:srgbClr val="1B1E24"/>
                </a:solidFill>
                <a:latin typeface="IBM Plex Mono"/>
              </a:rPr>
              <a:t>944s</a:t>
            </a:r>
          </a:p>
        </p:txBody>
      </p:sp>
      <p:sp>
        <p:nvSpPr>
          <p:cNvPr id="23" name="TextBox 22"/>
          <p:cNvSpPr txBox="1"/>
          <p:nvPr/>
        </p:nvSpPr>
        <p:spPr>
          <a:xfrm>
            <a:off x="1097280" y="4919472"/>
            <a:ext cx="2468880" cy="274320"/>
          </a:xfrm>
          <a:prstGeom prst="rect">
            <a:avLst/>
          </a:prstGeom>
          <a:noFill/>
        </p:spPr>
        <p:txBody>
          <a:bodyPr wrap="square" anchor="t" lIns="0" rIns="0" tIns="0" bIns="0">
            <a:spAutoFit/>
          </a:bodyPr>
          <a:lstStyle/>
          <a:p>
            <a:pPr algn="l">
              <a:lnSpc>
                <a:spcPct val="100000"/>
              </a:lnSpc>
              <a:spcAft>
                <a:spcPts val="400"/>
              </a:spcAft>
            </a:pPr>
            <a:r>
              <a:rPr sz="1050" b="0">
                <a:solidFill>
                  <a:srgbClr val="5C6472"/>
                </a:solidFill>
                <a:latin typeface="IBM Plex Mono"/>
              </a:rPr>
              <a:t>RCA · hybrid</a:t>
            </a:r>
          </a:p>
        </p:txBody>
      </p:sp>
      <p:sp>
        <p:nvSpPr>
          <p:cNvPr id="24" name="Rounded Rectangle 23"/>
          <p:cNvSpPr/>
          <p:nvPr/>
        </p:nvSpPr>
        <p:spPr>
          <a:xfrm>
            <a:off x="3657600" y="4946904"/>
            <a:ext cx="2871061" cy="219456"/>
          </a:xfrm>
          <a:prstGeom prst="roundRect">
            <a:avLst>
              <a:gd name="adj" fmla="val 40000"/>
            </a:avLst>
          </a:prstGeom>
          <a:solidFill>
            <a:srgbClr val="7E4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20101" y="4919472"/>
            <a:ext cx="1097280" cy="274320"/>
          </a:xfrm>
          <a:prstGeom prst="rect">
            <a:avLst/>
          </a:prstGeom>
          <a:noFill/>
        </p:spPr>
        <p:txBody>
          <a:bodyPr wrap="square" anchor="t" lIns="0" rIns="0" tIns="0" bIns="0">
            <a:spAutoFit/>
          </a:bodyPr>
          <a:lstStyle/>
          <a:p>
            <a:pPr algn="l">
              <a:lnSpc>
                <a:spcPct val="100000"/>
              </a:lnSpc>
              <a:spcAft>
                <a:spcPts val="400"/>
              </a:spcAft>
            </a:pPr>
            <a:r>
              <a:rPr sz="1050" b="1">
                <a:solidFill>
                  <a:srgbClr val="1B1E24"/>
                </a:solidFill>
                <a:latin typeface="IBM Plex Mono"/>
              </a:rPr>
              <a:t>390s</a:t>
            </a:r>
          </a:p>
        </p:txBody>
      </p:sp>
      <p:sp>
        <p:nvSpPr>
          <p:cNvPr id="26" name="TextBox 25"/>
          <p:cNvSpPr txBox="1"/>
          <p:nvPr/>
        </p:nvSpPr>
        <p:spPr>
          <a:xfrm>
            <a:off x="1097280" y="5248656"/>
            <a:ext cx="2468880" cy="274320"/>
          </a:xfrm>
          <a:prstGeom prst="rect">
            <a:avLst/>
          </a:prstGeom>
          <a:noFill/>
        </p:spPr>
        <p:txBody>
          <a:bodyPr wrap="square" anchor="t" lIns="0" rIns="0" tIns="0" bIns="0">
            <a:spAutoFit/>
          </a:bodyPr>
          <a:lstStyle/>
          <a:p>
            <a:pPr algn="l">
              <a:lnSpc>
                <a:spcPct val="100000"/>
              </a:lnSpc>
              <a:spcAft>
                <a:spcPts val="400"/>
              </a:spcAft>
            </a:pPr>
            <a:r>
              <a:rPr sz="1050" b="0">
                <a:solidFill>
                  <a:srgbClr val="5C6472"/>
                </a:solidFill>
                <a:latin typeface="IBM Plex Mono"/>
              </a:rPr>
              <a:t>RCA · deterministic</a:t>
            </a:r>
          </a:p>
        </p:txBody>
      </p:sp>
      <p:sp>
        <p:nvSpPr>
          <p:cNvPr id="27" name="Rounded Rectangle 26"/>
          <p:cNvSpPr/>
          <p:nvPr/>
        </p:nvSpPr>
        <p:spPr>
          <a:xfrm>
            <a:off x="3657600" y="5276088"/>
            <a:ext cx="1987657" cy="219456"/>
          </a:xfrm>
          <a:prstGeom prst="roundRect">
            <a:avLst>
              <a:gd name="adj" fmla="val 40000"/>
            </a:avLst>
          </a:prstGeom>
          <a:solidFill>
            <a:srgbClr val="2B5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736697" y="5248656"/>
            <a:ext cx="1097280" cy="274320"/>
          </a:xfrm>
          <a:prstGeom prst="rect">
            <a:avLst/>
          </a:prstGeom>
          <a:noFill/>
        </p:spPr>
        <p:txBody>
          <a:bodyPr wrap="square" anchor="t" lIns="0" rIns="0" tIns="0" bIns="0">
            <a:spAutoFit/>
          </a:bodyPr>
          <a:lstStyle/>
          <a:p>
            <a:pPr algn="l">
              <a:lnSpc>
                <a:spcPct val="100000"/>
              </a:lnSpc>
              <a:spcAft>
                <a:spcPts val="400"/>
              </a:spcAft>
            </a:pPr>
            <a:r>
              <a:rPr sz="1050" b="1">
                <a:solidFill>
                  <a:srgbClr val="1B1E24"/>
                </a:solidFill>
                <a:latin typeface="IBM Plex Mono"/>
              </a:rPr>
              <a:t>270s</a:t>
            </a:r>
          </a:p>
        </p:txBody>
      </p:sp>
      <p:sp>
        <p:nvSpPr>
          <p:cNvPr id="29" name="TextBox 28"/>
          <p:cNvSpPr txBox="1"/>
          <p:nvPr/>
        </p:nvSpPr>
        <p:spPr>
          <a:xfrm>
            <a:off x="1097280" y="5577840"/>
            <a:ext cx="2468880" cy="274320"/>
          </a:xfrm>
          <a:prstGeom prst="rect">
            <a:avLst/>
          </a:prstGeom>
          <a:noFill/>
        </p:spPr>
        <p:txBody>
          <a:bodyPr wrap="square" anchor="t" lIns="0" rIns="0" tIns="0" bIns="0">
            <a:spAutoFit/>
          </a:bodyPr>
          <a:lstStyle/>
          <a:p>
            <a:pPr algn="l">
              <a:lnSpc>
                <a:spcPct val="100000"/>
              </a:lnSpc>
              <a:spcAft>
                <a:spcPts val="400"/>
              </a:spcAft>
            </a:pPr>
            <a:r>
              <a:rPr sz="1050" b="0">
                <a:solidFill>
                  <a:srgbClr val="5C6472"/>
                </a:solidFill>
                <a:latin typeface="IBM Plex Mono"/>
              </a:rPr>
              <a:t>RCA · deterministic (lean)</a:t>
            </a:r>
          </a:p>
        </p:txBody>
      </p:sp>
      <p:sp>
        <p:nvSpPr>
          <p:cNvPr id="30" name="Rounded Rectangle 29"/>
          <p:cNvSpPr/>
          <p:nvPr/>
        </p:nvSpPr>
        <p:spPr>
          <a:xfrm>
            <a:off x="3657600" y="5605272"/>
            <a:ext cx="176680" cy="219456"/>
          </a:xfrm>
          <a:prstGeom prst="roundRect">
            <a:avLst>
              <a:gd name="adj" fmla="val 40000"/>
            </a:avLst>
          </a:prstGeom>
          <a:solidFill>
            <a:srgbClr val="9DB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25720" y="5577840"/>
            <a:ext cx="1097280" cy="274320"/>
          </a:xfrm>
          <a:prstGeom prst="rect">
            <a:avLst/>
          </a:prstGeom>
          <a:noFill/>
        </p:spPr>
        <p:txBody>
          <a:bodyPr wrap="square" anchor="t" lIns="0" rIns="0" tIns="0" bIns="0">
            <a:spAutoFit/>
          </a:bodyPr>
          <a:lstStyle/>
          <a:p>
            <a:pPr algn="l">
              <a:lnSpc>
                <a:spcPct val="100000"/>
              </a:lnSpc>
              <a:spcAft>
                <a:spcPts val="400"/>
              </a:spcAft>
            </a:pPr>
            <a:r>
              <a:rPr sz="1050" b="1">
                <a:solidFill>
                  <a:srgbClr val="1B1E24"/>
                </a:solidFill>
                <a:latin typeface="IBM Plex Mono"/>
              </a:rPr>
              <a:t>24s</a:t>
            </a:r>
          </a:p>
        </p:txBody>
      </p:sp>
      <p:sp>
        <p:nvSpPr>
          <p:cNvPr id="32" name="TextBox 31"/>
          <p:cNvSpPr txBox="1"/>
          <p:nvPr/>
        </p:nvSpPr>
        <p:spPr>
          <a:xfrm>
            <a:off x="1097280" y="5907024"/>
            <a:ext cx="2468880" cy="274320"/>
          </a:xfrm>
          <a:prstGeom prst="rect">
            <a:avLst/>
          </a:prstGeom>
          <a:noFill/>
        </p:spPr>
        <p:txBody>
          <a:bodyPr wrap="square" anchor="t" lIns="0" rIns="0" tIns="0" bIns="0">
            <a:spAutoFit/>
          </a:bodyPr>
          <a:lstStyle/>
          <a:p>
            <a:pPr algn="l">
              <a:lnSpc>
                <a:spcPct val="100000"/>
              </a:lnSpc>
              <a:spcAft>
                <a:spcPts val="400"/>
              </a:spcAft>
            </a:pPr>
            <a:r>
              <a:rPr sz="1050" b="0">
                <a:solidFill>
                  <a:srgbClr val="5C6472"/>
                </a:solidFill>
                <a:latin typeface="IBM Plex Mono"/>
              </a:rPr>
              <a:t>Aggregate RCA</a:t>
            </a:r>
          </a:p>
        </p:txBody>
      </p:sp>
      <p:sp>
        <p:nvSpPr>
          <p:cNvPr id="33" name="Rounded Rectangle 32"/>
          <p:cNvSpPr/>
          <p:nvPr/>
        </p:nvSpPr>
        <p:spPr>
          <a:xfrm>
            <a:off x="3657600" y="5934456"/>
            <a:ext cx="132510" cy="219456"/>
          </a:xfrm>
          <a:prstGeom prst="roundRect">
            <a:avLst>
              <a:gd name="adj" fmla="val 40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881550" y="5907024"/>
            <a:ext cx="1097280" cy="274320"/>
          </a:xfrm>
          <a:prstGeom prst="rect">
            <a:avLst/>
          </a:prstGeom>
          <a:noFill/>
        </p:spPr>
        <p:txBody>
          <a:bodyPr wrap="square" anchor="t" lIns="0" rIns="0" tIns="0" bIns="0">
            <a:spAutoFit/>
          </a:bodyPr>
          <a:lstStyle/>
          <a:p>
            <a:pPr algn="l">
              <a:lnSpc>
                <a:spcPct val="100000"/>
              </a:lnSpc>
              <a:spcAft>
                <a:spcPts val="400"/>
              </a:spcAft>
            </a:pPr>
            <a:r>
              <a:rPr sz="1050" b="1">
                <a:solidFill>
                  <a:srgbClr val="1B1E24"/>
                </a:solidFill>
                <a:latin typeface="IBM Plex Mono"/>
              </a:rPr>
              <a:t>18s</a:t>
            </a:r>
          </a:p>
        </p:txBody>
      </p:sp>
      <p:sp>
        <p:nvSpPr>
          <p:cNvPr id="35" name="TextBox 34"/>
          <p:cNvSpPr txBox="1"/>
          <p:nvPr/>
        </p:nvSpPr>
        <p:spPr>
          <a:xfrm>
            <a:off x="1097280" y="5943600"/>
            <a:ext cx="10058400" cy="274320"/>
          </a:xfrm>
          <a:prstGeom prst="rect">
            <a:avLst/>
          </a:prstGeom>
          <a:noFill/>
        </p:spPr>
        <p:txBody>
          <a:bodyPr wrap="square" anchor="t" lIns="0" rIns="0" tIns="0" bIns="0">
            <a:spAutoFit/>
          </a:bodyPr>
          <a:lstStyle/>
          <a:p>
            <a:pPr algn="l">
              <a:lnSpc>
                <a:spcPct val="110000"/>
              </a:lnSpc>
              <a:spcAft>
                <a:spcPts val="400"/>
              </a:spcAft>
            </a:pPr>
            <a:r>
              <a:rPr sz="1050" b="0">
                <a:solidFill>
                  <a:srgbClr val="5C6472"/>
                </a:solidFill>
                <a:latin typeface="IBM Plex Sans"/>
              </a:rPr>
              <a:t>RCA cost is driven by optional live checks + FM calls (each toggleable) — not raw volume. 10× the data (2M→20M) grows RCA ~2×, reconcile ~3.2×; every seeded defect still caught.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058400" cy="274320"/>
          </a:xfrm>
          <a:prstGeom prst="rect">
            <a:avLst/>
          </a:prstGeom>
          <a:noFill/>
        </p:spPr>
        <p:txBody>
          <a:bodyPr wrap="square" anchor="t" lIns="0" rIns="0" tIns="0" bIns="0">
            <a:spAutoFit/>
          </a:bodyPr>
          <a:lstStyle/>
          <a:p>
            <a:pPr algn="l">
              <a:lnSpc>
                <a:spcPct val="100000"/>
              </a:lnSpc>
              <a:spcAft>
                <a:spcPts val="400"/>
              </a:spcAft>
            </a:pPr>
            <a:r>
              <a:rPr sz="1200" b="1">
                <a:solidFill>
                  <a:srgbClr val="C56A2E"/>
                </a:solidFill>
                <a:latin typeface="IBM Plex Mono"/>
              </a:rPr>
              <a:t>WHY IT MATTERS</a:t>
            </a:r>
          </a:p>
        </p:txBody>
      </p:sp>
      <p:sp>
        <p:nvSpPr>
          <p:cNvPr id="5" name="TextBox 4"/>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Aft>
                <a:spcPts val="400"/>
              </a:spcAft>
            </a:pPr>
            <a:r>
              <a:rPr sz="2500" b="1">
                <a:solidFill>
                  <a:srgbClr val="1B1E24"/>
                </a:solidFill>
                <a:latin typeface="Archivo"/>
              </a:rPr>
              <a:t>Technical rigor that converts directly into migration throughput.</a:t>
            </a:r>
          </a:p>
        </p:txBody>
      </p:sp>
      <p:sp>
        <p:nvSpPr>
          <p:cNvPr id="6" name="TextBox 5"/>
          <p:cNvSpPr txBox="1"/>
          <p:nvPr/>
        </p:nvSpPr>
        <p:spPr>
          <a:xfrm>
            <a:off x="822960" y="2194560"/>
            <a:ext cx="4937760" cy="365760"/>
          </a:xfrm>
          <a:prstGeom prst="rect">
            <a:avLst/>
          </a:prstGeom>
          <a:noFill/>
        </p:spPr>
        <p:txBody>
          <a:bodyPr wrap="square" anchor="t" lIns="0" rIns="0" tIns="0" bIns="0">
            <a:spAutoFit/>
          </a:bodyPr>
          <a:lstStyle/>
          <a:p>
            <a:pPr algn="l">
              <a:lnSpc>
                <a:spcPct val="100000"/>
              </a:lnSpc>
              <a:spcAft>
                <a:spcPts val="400"/>
              </a:spcAft>
            </a:pPr>
            <a:r>
              <a:rPr sz="1700" b="1">
                <a:solidFill>
                  <a:srgbClr val="2B5B8A"/>
                </a:solidFill>
                <a:latin typeface="Archivo"/>
              </a:rPr>
              <a:t>Technical impact</a:t>
            </a:r>
          </a:p>
        </p:txBody>
      </p:sp>
      <p:sp>
        <p:nvSpPr>
          <p:cNvPr id="7" name="Rectangle 6"/>
          <p:cNvSpPr/>
          <p:nvPr/>
        </p:nvSpPr>
        <p:spPr>
          <a:xfrm>
            <a:off x="822960" y="2788920"/>
            <a:ext cx="45720" cy="777240"/>
          </a:xfrm>
          <a:prstGeom prst="rect">
            <a:avLst/>
          </a:prstGeom>
          <a:solidFill>
            <a:srgbClr val="2B5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88920"/>
            <a:ext cx="4754880" cy="320040"/>
          </a:xfrm>
          <a:prstGeom prst="rect">
            <a:avLst/>
          </a:prstGeom>
          <a:noFill/>
        </p:spPr>
        <p:txBody>
          <a:bodyPr wrap="square" anchor="t" lIns="0" rIns="0" tIns="0" bIns="0">
            <a:spAutoFit/>
          </a:bodyPr>
          <a:lstStyle/>
          <a:p>
            <a:pPr algn="l">
              <a:lnSpc>
                <a:spcPct val="100000"/>
              </a:lnSpc>
              <a:spcAft>
                <a:spcPts val="400"/>
              </a:spcAft>
            </a:pPr>
            <a:r>
              <a:rPr sz="1350" b="1">
                <a:solidFill>
                  <a:srgbClr val="1B1E24"/>
                </a:solidFill>
                <a:latin typeface="IBM Plex Sans"/>
              </a:rPr>
              <a:t>Query-gated, never hallucinated</a:t>
            </a:r>
          </a:p>
        </p:txBody>
      </p:sp>
      <p:sp>
        <p:nvSpPr>
          <p:cNvPr id="9" name="TextBox 8"/>
          <p:cNvSpPr txBox="1"/>
          <p:nvPr/>
        </p:nvSpPr>
        <p:spPr>
          <a:xfrm>
            <a:off x="1051560" y="3108960"/>
            <a:ext cx="4754880" cy="548640"/>
          </a:xfrm>
          <a:prstGeom prst="rect">
            <a:avLst/>
          </a:prstGeom>
          <a:noFill/>
        </p:spPr>
        <p:txBody>
          <a:bodyPr wrap="square" anchor="t" lIns="0" rIns="0" tIns="0" bIns="0">
            <a:spAutoFit/>
          </a:bodyPr>
          <a:lstStyle/>
          <a:p>
            <a:pPr algn="l">
              <a:lnSpc>
                <a:spcPct val="110000"/>
              </a:lnSpc>
              <a:spcAft>
                <a:spcPts val="400"/>
              </a:spcAft>
            </a:pPr>
            <a:r>
              <a:rPr sz="1150" b="0">
                <a:solidFill>
                  <a:srgbClr val="5C6472"/>
                </a:solidFill>
                <a:latin typeface="IBM Plex Sans"/>
              </a:rPr>
              <a:t>Every verdict — deterministic or agentic — is proven by a re-runnable query.</a:t>
            </a:r>
          </a:p>
        </p:txBody>
      </p:sp>
      <p:sp>
        <p:nvSpPr>
          <p:cNvPr id="10" name="Rectangle 9"/>
          <p:cNvSpPr/>
          <p:nvPr/>
        </p:nvSpPr>
        <p:spPr>
          <a:xfrm>
            <a:off x="822960" y="3703320"/>
            <a:ext cx="45720" cy="777240"/>
          </a:xfrm>
          <a:prstGeom prst="rect">
            <a:avLst/>
          </a:prstGeom>
          <a:solidFill>
            <a:srgbClr val="2B5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3703320"/>
            <a:ext cx="4754880" cy="320040"/>
          </a:xfrm>
          <a:prstGeom prst="rect">
            <a:avLst/>
          </a:prstGeom>
          <a:noFill/>
        </p:spPr>
        <p:txBody>
          <a:bodyPr wrap="square" anchor="t" lIns="0" rIns="0" tIns="0" bIns="0">
            <a:spAutoFit/>
          </a:bodyPr>
          <a:lstStyle/>
          <a:p>
            <a:pPr algn="l">
              <a:lnSpc>
                <a:spcPct val="100000"/>
              </a:lnSpc>
              <a:spcAft>
                <a:spcPts val="400"/>
              </a:spcAft>
            </a:pPr>
            <a:r>
              <a:rPr sz="1350" b="1">
                <a:solidFill>
                  <a:srgbClr val="1B1E24"/>
                </a:solidFill>
                <a:latin typeface="IBM Plex Sans"/>
              </a:rPr>
              <a:t>Code-aware to the sub-expression</a:t>
            </a:r>
          </a:p>
        </p:txBody>
      </p:sp>
      <p:sp>
        <p:nvSpPr>
          <p:cNvPr id="12" name="TextBox 11"/>
          <p:cNvSpPr txBox="1"/>
          <p:nvPr/>
        </p:nvSpPr>
        <p:spPr>
          <a:xfrm>
            <a:off x="1051560" y="4023359"/>
            <a:ext cx="4754880" cy="548640"/>
          </a:xfrm>
          <a:prstGeom prst="rect">
            <a:avLst/>
          </a:prstGeom>
          <a:noFill/>
        </p:spPr>
        <p:txBody>
          <a:bodyPr wrap="square" anchor="t" lIns="0" rIns="0" tIns="0" bIns="0">
            <a:spAutoFit/>
          </a:bodyPr>
          <a:lstStyle/>
          <a:p>
            <a:pPr algn="l">
              <a:lnSpc>
                <a:spcPct val="110000"/>
              </a:lnSpc>
              <a:spcAft>
                <a:spcPts val="400"/>
              </a:spcAft>
            </a:pPr>
            <a:r>
              <a:rPr sz="1150" b="0">
                <a:solidFill>
                  <a:srgbClr val="5C6472"/>
                </a:solidFill>
                <a:latin typeface="IBM Plex Sans"/>
              </a:rPr>
              <a:t>Names the exact culprit (a scale, an interval, a dropped CASE arm) and the source script.</a:t>
            </a:r>
          </a:p>
        </p:txBody>
      </p:sp>
      <p:sp>
        <p:nvSpPr>
          <p:cNvPr id="13" name="Rectangle 12"/>
          <p:cNvSpPr/>
          <p:nvPr/>
        </p:nvSpPr>
        <p:spPr>
          <a:xfrm>
            <a:off x="822960" y="4617720"/>
            <a:ext cx="45720" cy="777240"/>
          </a:xfrm>
          <a:prstGeom prst="rect">
            <a:avLst/>
          </a:prstGeom>
          <a:solidFill>
            <a:srgbClr val="2B5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4617720"/>
            <a:ext cx="4754880" cy="320040"/>
          </a:xfrm>
          <a:prstGeom prst="rect">
            <a:avLst/>
          </a:prstGeom>
          <a:noFill/>
        </p:spPr>
        <p:txBody>
          <a:bodyPr wrap="square" anchor="t" lIns="0" rIns="0" tIns="0" bIns="0">
            <a:spAutoFit/>
          </a:bodyPr>
          <a:lstStyle/>
          <a:p>
            <a:pPr algn="l">
              <a:lnSpc>
                <a:spcPct val="100000"/>
              </a:lnSpc>
              <a:spcAft>
                <a:spcPts val="400"/>
              </a:spcAft>
            </a:pPr>
            <a:r>
              <a:rPr sz="1350" b="1">
                <a:solidFill>
                  <a:srgbClr val="1B1E24"/>
                </a:solidFill>
                <a:latin typeface="IBM Plex Sans"/>
              </a:rPr>
              <a:t>One engine, three surfaces</a:t>
            </a:r>
          </a:p>
        </p:txBody>
      </p:sp>
      <p:sp>
        <p:nvSpPr>
          <p:cNvPr id="15" name="TextBox 14"/>
          <p:cNvSpPr txBox="1"/>
          <p:nvPr/>
        </p:nvSpPr>
        <p:spPr>
          <a:xfrm>
            <a:off x="1051560" y="4937759"/>
            <a:ext cx="4754880" cy="548640"/>
          </a:xfrm>
          <a:prstGeom prst="rect">
            <a:avLst/>
          </a:prstGeom>
          <a:noFill/>
        </p:spPr>
        <p:txBody>
          <a:bodyPr wrap="square" anchor="t" lIns="0" rIns="0" tIns="0" bIns="0">
            <a:spAutoFit/>
          </a:bodyPr>
          <a:lstStyle/>
          <a:p>
            <a:pPr algn="l">
              <a:lnSpc>
                <a:spcPct val="110000"/>
              </a:lnSpc>
              <a:spcAft>
                <a:spcPts val="400"/>
              </a:spcAft>
            </a:pPr>
            <a:r>
              <a:rPr sz="1150" b="0">
                <a:solidFill>
                  <a:srgbClr val="5C6472"/>
                </a:solidFill>
                <a:latin typeface="IBM Plex Sans"/>
              </a:rPr>
              <a:t>App, CLI, and Genie skill share the engine — identical output, deterministic &amp; agentic on each.</a:t>
            </a:r>
          </a:p>
        </p:txBody>
      </p:sp>
      <p:sp>
        <p:nvSpPr>
          <p:cNvPr id="16" name="Rectangle 15"/>
          <p:cNvSpPr/>
          <p:nvPr/>
        </p:nvSpPr>
        <p:spPr>
          <a:xfrm>
            <a:off x="822960" y="5532120"/>
            <a:ext cx="45720" cy="777240"/>
          </a:xfrm>
          <a:prstGeom prst="rect">
            <a:avLst/>
          </a:prstGeom>
          <a:solidFill>
            <a:srgbClr val="2B5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5532120"/>
            <a:ext cx="4754880" cy="320040"/>
          </a:xfrm>
          <a:prstGeom prst="rect">
            <a:avLst/>
          </a:prstGeom>
          <a:noFill/>
        </p:spPr>
        <p:txBody>
          <a:bodyPr wrap="square" anchor="t" lIns="0" rIns="0" tIns="0" bIns="0">
            <a:spAutoFit/>
          </a:bodyPr>
          <a:lstStyle/>
          <a:p>
            <a:pPr algn="l">
              <a:lnSpc>
                <a:spcPct val="100000"/>
              </a:lnSpc>
              <a:spcAft>
                <a:spcPts val="400"/>
              </a:spcAft>
            </a:pPr>
            <a:r>
              <a:rPr sz="1350" b="1">
                <a:solidFill>
                  <a:srgbClr val="1B1E24"/>
                </a:solidFill>
                <a:latin typeface="IBM Plex Sans"/>
              </a:rPr>
              <a:t>Scale-bounded</a:t>
            </a:r>
          </a:p>
        </p:txBody>
      </p:sp>
      <p:sp>
        <p:nvSpPr>
          <p:cNvPr id="18" name="TextBox 17"/>
          <p:cNvSpPr txBox="1"/>
          <p:nvPr/>
        </p:nvSpPr>
        <p:spPr>
          <a:xfrm>
            <a:off x="1051560" y="5852159"/>
            <a:ext cx="4754880" cy="548640"/>
          </a:xfrm>
          <a:prstGeom prst="rect">
            <a:avLst/>
          </a:prstGeom>
          <a:noFill/>
        </p:spPr>
        <p:txBody>
          <a:bodyPr wrap="square" anchor="t" lIns="0" rIns="0" tIns="0" bIns="0">
            <a:spAutoFit/>
          </a:bodyPr>
          <a:lstStyle/>
          <a:p>
            <a:pPr algn="l">
              <a:lnSpc>
                <a:spcPct val="110000"/>
              </a:lnSpc>
              <a:spcAft>
                <a:spcPts val="400"/>
              </a:spcAft>
            </a:pPr>
            <a:r>
              <a:rPr sz="1150" b="0">
                <a:solidFill>
                  <a:srgbClr val="5C6472"/>
                </a:solidFill>
                <a:latin typeface="IBM Plex Sans"/>
              </a:rPr>
              <a:t>Runs on the recon sample + scope-bounded checks; proven at 20M rows, six concurrent runs.</a:t>
            </a:r>
          </a:p>
        </p:txBody>
      </p:sp>
      <p:sp>
        <p:nvSpPr>
          <p:cNvPr id="19" name="TextBox 18"/>
          <p:cNvSpPr txBox="1"/>
          <p:nvPr/>
        </p:nvSpPr>
        <p:spPr>
          <a:xfrm>
            <a:off x="6263640" y="2194560"/>
            <a:ext cx="4937760" cy="365760"/>
          </a:xfrm>
          <a:prstGeom prst="rect">
            <a:avLst/>
          </a:prstGeom>
          <a:noFill/>
        </p:spPr>
        <p:txBody>
          <a:bodyPr wrap="square" anchor="t" lIns="0" rIns="0" tIns="0" bIns="0">
            <a:spAutoFit/>
          </a:bodyPr>
          <a:lstStyle/>
          <a:p>
            <a:pPr algn="l">
              <a:lnSpc>
                <a:spcPct val="100000"/>
              </a:lnSpc>
              <a:spcAft>
                <a:spcPts val="400"/>
              </a:spcAft>
            </a:pPr>
            <a:r>
              <a:rPr sz="1700" b="1">
                <a:solidFill>
                  <a:srgbClr val="C56A2E"/>
                </a:solidFill>
                <a:latin typeface="Archivo"/>
              </a:rPr>
              <a:t>Business impact</a:t>
            </a:r>
          </a:p>
        </p:txBody>
      </p:sp>
      <p:sp>
        <p:nvSpPr>
          <p:cNvPr id="20" name="Rectangle 19"/>
          <p:cNvSpPr/>
          <p:nvPr/>
        </p:nvSpPr>
        <p:spPr>
          <a:xfrm>
            <a:off x="6263640" y="2788920"/>
            <a:ext cx="45720" cy="777240"/>
          </a:xfrm>
          <a:prstGeom prst="rect">
            <a:avLst/>
          </a:prstGeom>
          <a:solidFill>
            <a:srgbClr val="C5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2788920"/>
            <a:ext cx="4754880" cy="320040"/>
          </a:xfrm>
          <a:prstGeom prst="rect">
            <a:avLst/>
          </a:prstGeom>
          <a:noFill/>
        </p:spPr>
        <p:txBody>
          <a:bodyPr wrap="square" anchor="t" lIns="0" rIns="0" tIns="0" bIns="0">
            <a:spAutoFit/>
          </a:bodyPr>
          <a:lstStyle/>
          <a:p>
            <a:pPr algn="l">
              <a:lnSpc>
                <a:spcPct val="100000"/>
              </a:lnSpc>
              <a:spcAft>
                <a:spcPts val="400"/>
              </a:spcAft>
            </a:pPr>
            <a:r>
              <a:rPr sz="1350" b="1">
                <a:solidFill>
                  <a:srgbClr val="1B1E24"/>
                </a:solidFill>
                <a:latin typeface="IBM Plex Sans"/>
              </a:rPr>
              <a:t>Days → minutes per migration</a:t>
            </a:r>
          </a:p>
        </p:txBody>
      </p:sp>
      <p:sp>
        <p:nvSpPr>
          <p:cNvPr id="22" name="TextBox 21"/>
          <p:cNvSpPr txBox="1"/>
          <p:nvPr/>
        </p:nvSpPr>
        <p:spPr>
          <a:xfrm>
            <a:off x="6492240" y="3108960"/>
            <a:ext cx="4754880" cy="548640"/>
          </a:xfrm>
          <a:prstGeom prst="rect">
            <a:avLst/>
          </a:prstGeom>
          <a:noFill/>
        </p:spPr>
        <p:txBody>
          <a:bodyPr wrap="square" anchor="t" lIns="0" rIns="0" tIns="0" bIns="0">
            <a:spAutoFit/>
          </a:bodyPr>
          <a:lstStyle/>
          <a:p>
            <a:pPr algn="l">
              <a:lnSpc>
                <a:spcPct val="110000"/>
              </a:lnSpc>
              <a:spcAft>
                <a:spcPts val="400"/>
              </a:spcAft>
            </a:pPr>
            <a:r>
              <a:rPr sz="1150" b="0">
                <a:solidFill>
                  <a:srgbClr val="5C6472"/>
                </a:solidFill>
                <a:latin typeface="IBM Plex Sans"/>
              </a:rPr>
              <a:t>Reviewer-ready root cause for every difference — engineers fix instead of investigate.</a:t>
            </a:r>
          </a:p>
        </p:txBody>
      </p:sp>
      <p:sp>
        <p:nvSpPr>
          <p:cNvPr id="23" name="Rectangle 22"/>
          <p:cNvSpPr/>
          <p:nvPr/>
        </p:nvSpPr>
        <p:spPr>
          <a:xfrm>
            <a:off x="6263640" y="3703320"/>
            <a:ext cx="45720" cy="777240"/>
          </a:xfrm>
          <a:prstGeom prst="rect">
            <a:avLst/>
          </a:prstGeom>
          <a:solidFill>
            <a:srgbClr val="C5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3703320"/>
            <a:ext cx="4754880" cy="320040"/>
          </a:xfrm>
          <a:prstGeom prst="rect">
            <a:avLst/>
          </a:prstGeom>
          <a:noFill/>
        </p:spPr>
        <p:txBody>
          <a:bodyPr wrap="square" anchor="t" lIns="0" rIns="0" tIns="0" bIns="0">
            <a:spAutoFit/>
          </a:bodyPr>
          <a:lstStyle/>
          <a:p>
            <a:pPr algn="l">
              <a:lnSpc>
                <a:spcPct val="100000"/>
              </a:lnSpc>
              <a:spcAft>
                <a:spcPts val="400"/>
              </a:spcAft>
            </a:pPr>
            <a:r>
              <a:rPr sz="1350" b="1">
                <a:solidFill>
                  <a:srgbClr val="1B1E24"/>
                </a:solidFill>
                <a:latin typeface="IBM Plex Sans"/>
              </a:rPr>
              <a:t>Fits every customer</a:t>
            </a:r>
          </a:p>
        </p:txBody>
      </p:sp>
      <p:sp>
        <p:nvSpPr>
          <p:cNvPr id="25" name="TextBox 24"/>
          <p:cNvSpPr txBox="1"/>
          <p:nvPr/>
        </p:nvSpPr>
        <p:spPr>
          <a:xfrm>
            <a:off x="6492240" y="4023359"/>
            <a:ext cx="4754880" cy="548640"/>
          </a:xfrm>
          <a:prstGeom prst="rect">
            <a:avLst/>
          </a:prstGeom>
          <a:noFill/>
        </p:spPr>
        <p:txBody>
          <a:bodyPr wrap="square" anchor="t" lIns="0" rIns="0" tIns="0" bIns="0">
            <a:spAutoFit/>
          </a:bodyPr>
          <a:lstStyle/>
          <a:p>
            <a:pPr algn="l">
              <a:lnSpc>
                <a:spcPct val="110000"/>
              </a:lnSpc>
              <a:spcAft>
                <a:spcPts val="400"/>
              </a:spcAft>
            </a:pPr>
            <a:r>
              <a:rPr sz="1150" b="0">
                <a:solidFill>
                  <a:srgbClr val="5C6472"/>
                </a:solidFill>
                <a:latin typeface="IBM Plex Sans"/>
              </a:rPr>
              <a:t>Deterministic ships to Genie-restricted &amp; regulated workspaces; agentic where allowed.</a:t>
            </a:r>
          </a:p>
        </p:txBody>
      </p:sp>
      <p:sp>
        <p:nvSpPr>
          <p:cNvPr id="26" name="Rectangle 25"/>
          <p:cNvSpPr/>
          <p:nvPr/>
        </p:nvSpPr>
        <p:spPr>
          <a:xfrm>
            <a:off x="6263640" y="4617720"/>
            <a:ext cx="45720" cy="777240"/>
          </a:xfrm>
          <a:prstGeom prst="rect">
            <a:avLst/>
          </a:prstGeom>
          <a:solidFill>
            <a:srgbClr val="C5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4617720"/>
            <a:ext cx="4754880" cy="320040"/>
          </a:xfrm>
          <a:prstGeom prst="rect">
            <a:avLst/>
          </a:prstGeom>
          <a:noFill/>
        </p:spPr>
        <p:txBody>
          <a:bodyPr wrap="square" anchor="t" lIns="0" rIns="0" tIns="0" bIns="0">
            <a:spAutoFit/>
          </a:bodyPr>
          <a:lstStyle/>
          <a:p>
            <a:pPr algn="l">
              <a:lnSpc>
                <a:spcPct val="100000"/>
              </a:lnSpc>
              <a:spcAft>
                <a:spcPts val="400"/>
              </a:spcAft>
            </a:pPr>
            <a:r>
              <a:rPr sz="1350" b="1">
                <a:solidFill>
                  <a:srgbClr val="1B1E24"/>
                </a:solidFill>
                <a:latin typeface="IBM Plex Sans"/>
              </a:rPr>
              <a:t>Auditable &amp; trusted</a:t>
            </a:r>
          </a:p>
        </p:txBody>
      </p:sp>
      <p:sp>
        <p:nvSpPr>
          <p:cNvPr id="28" name="TextBox 27"/>
          <p:cNvSpPr txBox="1"/>
          <p:nvPr/>
        </p:nvSpPr>
        <p:spPr>
          <a:xfrm>
            <a:off x="6492240" y="4937759"/>
            <a:ext cx="4754880" cy="548640"/>
          </a:xfrm>
          <a:prstGeom prst="rect">
            <a:avLst/>
          </a:prstGeom>
          <a:noFill/>
        </p:spPr>
        <p:txBody>
          <a:bodyPr wrap="square" anchor="t" lIns="0" rIns="0" tIns="0" bIns="0">
            <a:spAutoFit/>
          </a:bodyPr>
          <a:lstStyle/>
          <a:p>
            <a:pPr algn="l">
              <a:lnSpc>
                <a:spcPct val="110000"/>
              </a:lnSpc>
              <a:spcAft>
                <a:spcPts val="400"/>
              </a:spcAft>
            </a:pPr>
            <a:r>
              <a:rPr sz="1150" b="0">
                <a:solidFill>
                  <a:srgbClr val="5C6472"/>
                </a:solidFill>
                <a:latin typeface="IBM Plex Sans"/>
              </a:rPr>
              <a:t>An append-only audit trail and a query behind every verdict make results defensible.</a:t>
            </a:r>
          </a:p>
        </p:txBody>
      </p:sp>
      <p:sp>
        <p:nvSpPr>
          <p:cNvPr id="29" name="Rectangle 28"/>
          <p:cNvSpPr/>
          <p:nvPr/>
        </p:nvSpPr>
        <p:spPr>
          <a:xfrm>
            <a:off x="6263640" y="5532120"/>
            <a:ext cx="45720" cy="777240"/>
          </a:xfrm>
          <a:prstGeom prst="rect">
            <a:avLst/>
          </a:prstGeom>
          <a:solidFill>
            <a:srgbClr val="C5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92240" y="5532120"/>
            <a:ext cx="4754880" cy="320040"/>
          </a:xfrm>
          <a:prstGeom prst="rect">
            <a:avLst/>
          </a:prstGeom>
          <a:noFill/>
        </p:spPr>
        <p:txBody>
          <a:bodyPr wrap="square" anchor="t" lIns="0" rIns="0" tIns="0" bIns="0">
            <a:spAutoFit/>
          </a:bodyPr>
          <a:lstStyle/>
          <a:p>
            <a:pPr algn="l">
              <a:lnSpc>
                <a:spcPct val="100000"/>
              </a:lnSpc>
              <a:spcAft>
                <a:spcPts val="400"/>
              </a:spcAft>
            </a:pPr>
            <a:r>
              <a:rPr sz="1350" b="1">
                <a:solidFill>
                  <a:srgbClr val="1B1E24"/>
                </a:solidFill>
                <a:latin typeface="IBM Plex Sans"/>
              </a:rPr>
              <a:t>Reusable asset</a:t>
            </a:r>
          </a:p>
        </p:txBody>
      </p:sp>
      <p:sp>
        <p:nvSpPr>
          <p:cNvPr id="31" name="TextBox 30"/>
          <p:cNvSpPr txBox="1"/>
          <p:nvPr/>
        </p:nvSpPr>
        <p:spPr>
          <a:xfrm>
            <a:off x="6492240" y="5852159"/>
            <a:ext cx="4754880" cy="548640"/>
          </a:xfrm>
          <a:prstGeom prst="rect">
            <a:avLst/>
          </a:prstGeom>
          <a:noFill/>
        </p:spPr>
        <p:txBody>
          <a:bodyPr wrap="square" anchor="t" lIns="0" rIns="0" tIns="0" bIns="0">
            <a:spAutoFit/>
          </a:bodyPr>
          <a:lstStyle/>
          <a:p>
            <a:pPr algn="l">
              <a:lnSpc>
                <a:spcPct val="110000"/>
              </a:lnSpc>
              <a:spcAft>
                <a:spcPts val="400"/>
              </a:spcAft>
            </a:pPr>
            <a:r>
              <a:rPr sz="1150" b="0">
                <a:solidFill>
                  <a:srgbClr val="5C6472"/>
                </a:solidFill>
                <a:latin typeface="IBM Plex Sans"/>
              </a:rPr>
              <a:t>Dialect-agnostic knowledge bases + a repeatable harness = a program-wide capability.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