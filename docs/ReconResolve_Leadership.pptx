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72768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4000" b="1">
                <a:solidFill>
                  <a:srgbClr val="1B3037"/>
                </a:solidFill>
                <a:latin typeface="Barlow"/>
              </a:rPr>
              <a:t>ReconResolve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95728"/>
            <a:ext cx="8046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 b="0">
                <a:solidFill>
                  <a:srgbClr val="618793"/>
                </a:solidFill>
                <a:latin typeface="DM Sans"/>
              </a:rPr>
              <a:t>The 4th stage after Lakebridge: reconcile tells you </a:t>
            </a:r>
            <a:r>
              <a:rPr sz="1500" b="1">
                <a:solidFill>
                  <a:srgbClr val="FF3620"/>
                </a:solidFill>
                <a:latin typeface="DM Sans"/>
              </a:rPr>
              <a:t>what</a:t>
            </a:r>
            <a:r>
              <a:rPr sz="1500" b="0">
                <a:solidFill>
                  <a:srgbClr val="618793"/>
                </a:solidFill>
                <a:latin typeface="DM Sans"/>
              </a:rPr>
              <a:t> differs — ReconResolve tells you </a:t>
            </a:r>
            <a:r>
              <a:rPr sz="1500" b="1">
                <a:solidFill>
                  <a:srgbClr val="FF3620"/>
                </a:solidFill>
                <a:latin typeface="DM Sans"/>
              </a:rPr>
              <a:t>why</a:t>
            </a:r>
            <a:r>
              <a:rPr sz="1500" b="0">
                <a:solidFill>
                  <a:srgbClr val="618793"/>
                </a:solidFill>
                <a:latin typeface="DM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50" b="0">
                <a:solidFill>
                  <a:srgbClr val="1B5161"/>
                </a:solidFill>
                <a:latin typeface="DM Sans"/>
              </a:rPr>
              <a:t>Deterministic + agentic root-cause analysis · App · CLI · Genie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94760"/>
            <a:ext cx="1028700" cy="384048"/>
          </a:xfrm>
          <a:prstGeom prst="roundRect">
            <a:avLst>
              <a:gd name="adj" fmla="val 50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0287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618793"/>
                </a:solidFill>
                <a:latin typeface="Barlow"/>
              </a:rPr>
              <a:t>analyze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7340" y="3794760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9EB7BE"/>
                </a:solidFill>
                <a:latin typeface="DM San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43100" y="3794760"/>
            <a:ext cx="1239012" cy="384048"/>
          </a:xfrm>
          <a:prstGeom prst="roundRect">
            <a:avLst>
              <a:gd name="adj" fmla="val 50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3100" y="3794760"/>
            <a:ext cx="12390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618793"/>
                </a:solidFill>
                <a:latin typeface="Barlow"/>
              </a:rPr>
              <a:t>transpile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3794760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9EB7BE"/>
                </a:solidFill>
                <a:latin typeface="DM San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7872" y="3794760"/>
            <a:ext cx="1239012" cy="384048"/>
          </a:xfrm>
          <a:prstGeom prst="roundRect">
            <a:avLst>
              <a:gd name="adj" fmla="val 50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3794760"/>
            <a:ext cx="12390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618793"/>
                </a:solidFill>
                <a:latin typeface="Barlow"/>
              </a:rPr>
              <a:t>reconcile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6884" y="3794760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9EB7BE"/>
                </a:solidFill>
                <a:latin typeface="DM San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2644" y="3794760"/>
            <a:ext cx="2185416" cy="384048"/>
          </a:xfrm>
          <a:prstGeom prst="roundRect">
            <a:avLst>
              <a:gd name="adj" fmla="val 50000"/>
            </a:avLst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2644" y="3794760"/>
            <a:ext cx="21854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Barlow"/>
              </a:rPr>
              <a:t>RCA · ReconResolve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26280"/>
            <a:ext cx="1828800" cy="329184"/>
          </a:xfrm>
          <a:prstGeom prst="roundRect">
            <a:avLst>
              <a:gd name="adj" fmla="val 30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18288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9EB7BE"/>
                </a:solidFill>
                <a:latin typeface="Barlow"/>
              </a:rPr>
              <a:t>Field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400" b="1">
                <a:solidFill>
                  <a:srgbClr val="1B3037"/>
                </a:solidFill>
                <a:latin typeface="Barlow"/>
              </a:rPr>
              <a:t>Between “the numbers don’t match” and a fix — a week of manual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3886200" cy="26517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73152" cy="2651760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331720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Barlow"/>
              </a:rPr>
              <a:t>TODAY · LAKEBRIDGE RECONCILE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57860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>
                <a:solidFill>
                  <a:srgbClr val="1B3037"/>
                </a:solidFill>
                <a:latin typeface="Barlow"/>
              </a:rPr>
              <a:t>A list of differences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200400"/>
            <a:ext cx="3520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18793"/>
                </a:solidFill>
                <a:latin typeface="DM Sans"/>
              </a:rPr>
              <a:t>•  Reports WHICH columns / rows differ — e.g. unit_price differs on 1,844,309 of 2,000,000 rows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618793"/>
                </a:solidFill>
                <a:latin typeface="DM Sans"/>
              </a:rPr>
              <a:t>•  Stops at the symptom: no mechanism, no source, no proof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618793"/>
                </a:solidFill>
                <a:latin typeface="DM Sans"/>
              </a:rPr>
              <a:t>•  Engineer opens the ETL, hypothesizes, writes queries — days per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2148840"/>
            <a:ext cx="3886200" cy="2651760"/>
          </a:xfrm>
          <a:prstGeom prst="roundRect">
            <a:avLst>
              <a:gd name="adj" fmla="val 5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9159" y="2148840"/>
            <a:ext cx="73152" cy="2651760"/>
          </a:xfrm>
          <a:prstGeom prst="rect">
            <a:avLst/>
          </a:prstGeom>
          <a:solidFill>
            <a:srgbClr val="00B3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1768" y="2331720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WITH RECONRESOLVE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01768" y="257860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Barlow"/>
              </a:rPr>
              <a:t>The mechanism, the culprit, the 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1768" y="3200400"/>
            <a:ext cx="3520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9EB7BE"/>
                </a:solidFill>
                <a:latin typeface="DM Sans"/>
              </a:rPr>
              <a:t>✓  Category + exact migrated derivation + ⚠️ likely-culprit sub-expression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9EB7BE"/>
                </a:solidFill>
                <a:latin typeface="DM Sans"/>
              </a:rPr>
              <a:t>✓  The source script + a runnable confirming query + a suggested fix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9EB7BE"/>
                </a:solidFill>
                <a:latin typeface="DM Sans"/>
              </a:rPr>
              <a:t>✓  Reviewer-ready notebook in minutes — deterministic or agentic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1">
                <a:solidFill>
                  <a:srgbClr val="1B3037"/>
                </a:solidFill>
                <a:latin typeface="Barlow"/>
              </a:rPr>
              <a:t>Two tiers — every verdict backed by a query, never a bare model guess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886200" cy="2743200"/>
          </a:xfrm>
          <a:prstGeom prst="roundRect">
            <a:avLst>
              <a:gd name="adj" fmla="val 4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59" y="2331720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331720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TIER 1 · DETERMINISTIC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7432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618793"/>
                </a:solidFill>
                <a:latin typeface="DM Sans"/>
              </a:rPr>
              <a:t>Rule-based · query-confirmed · the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90672"/>
            <a:ext cx="3429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50" b="0">
                <a:solidFill>
                  <a:srgbClr val="1B3037"/>
                </a:solidFill>
                <a:latin typeface="DM Sans"/>
              </a:rPr>
              <a:t>✓  Per-dialect probes classify the mechanism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1B3037"/>
                </a:solidFill>
                <a:latin typeface="DM Sans"/>
              </a:rPr>
              <a:t>✓  Parses migrated SQL → transformation logic + culprit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1B3037"/>
                </a:solidFill>
                <a:latin typeface="DM Sans"/>
              </a:rPr>
              <a:t>✓  One confirming query per finding sets the verdict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1B3037"/>
                </a:solidFill>
                <a:latin typeface="DM Sans"/>
              </a:rPr>
              <a:t>✓  Threshold-aware · schema &amp; aggregate RCA · fixes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498848"/>
            <a:ext cx="3429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1B5161"/>
                </a:solidFill>
                <a:latin typeface="DM Sans"/>
              </a:rPr>
              <a:t>Runs anywhere — no Genie, no model, no external calls.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59" y="2103120"/>
            <a:ext cx="3886200" cy="2743200"/>
          </a:xfrm>
          <a:prstGeom prst="roundRect">
            <a:avLst>
              <a:gd name="adj" fmla="val 4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83479" y="2331720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79" y="2331720"/>
            <a:ext cx="19659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7E4CA8"/>
                </a:solidFill>
                <a:latin typeface="Barlow"/>
              </a:rPr>
              <a:t>TIER 2 · AGENTIC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79" y="27432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9EB7BE"/>
                </a:solidFill>
                <a:latin typeface="DM Sans"/>
              </a:rPr>
              <a:t>Foundation-model · query-gated · optional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79" y="3090672"/>
            <a:ext cx="3429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50" b="0">
                <a:solidFill>
                  <a:srgbClr val="FFFFFF"/>
                </a:solidFill>
                <a:latin typeface="DM Sans"/>
              </a:rPr>
              <a:t>✓  Reconstructs the derivation from source columns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DM Sans"/>
              </a:rPr>
              <a:t>✓  Proposes the precise cause AND a confirming query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DM Sans"/>
              </a:rPr>
              <a:t>✓  Promoted only if the query matches every row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1050" b="0">
                <a:solidFill>
                  <a:srgbClr val="FFFFFF"/>
                </a:solidFill>
                <a:latin typeface="DM Sans"/>
              </a:rPr>
              <a:t>✓  Interactive (Genie) or headless (FM endpoint)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79" y="4498848"/>
            <a:ext cx="3429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AB00"/>
                </a:solidFill>
                <a:latin typeface="DM Sans"/>
              </a:rPr>
              <a:t>Guardrail: the query is the gate — a wrong guess doesn’t stick.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1">
                <a:solidFill>
                  <a:srgbClr val="1B3037"/>
                </a:solidFill>
                <a:latin typeface="Barlow"/>
              </a:rPr>
              <a:t>How a recon_id becomes a proven root cause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1B5161"/>
                </a:solidFill>
                <a:latin typeface="DM Sans"/>
              </a:rPr>
              <a:t>Deterministic path across the top; the agentic tier is an optional fallback for the residual — both end in the same query-backed notebook.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 w="16510">
            <a:solidFill>
              <a:srgbClr val="1B51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450591"/>
            <a:ext cx="12252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recon_id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752344"/>
            <a:ext cx="1225296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618793"/>
                </a:solidFill>
                <a:latin typeface="DM Sans"/>
              </a:rPr>
              <a:t>from Lakebridge reconcile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12848" y="233172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2450591"/>
            <a:ext cx="12252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Ingest + classify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752344"/>
            <a:ext cx="1225296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618793"/>
                </a:solidFill>
                <a:latin typeface="DM Sans"/>
              </a:rPr>
              <a:t>typed probes · per-dialect KB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77056" y="233172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0208" y="2450591"/>
            <a:ext cx="12252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Code-correlation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8" y="2752344"/>
            <a:ext cx="1225296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618793"/>
                </a:solidFill>
                <a:latin typeface="DM Sans"/>
              </a:rPr>
              <a:t>parse migrated SQL → 🔧 transform + ⚠️ culprit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41264" y="233172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14416" y="2450591"/>
            <a:ext cx="12252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1B3037"/>
                </a:solidFill>
                <a:latin typeface="Barlow"/>
              </a:rPr>
              <a:t>Confirm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4416" y="2752344"/>
            <a:ext cx="1225296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618793"/>
                </a:solidFill>
                <a:latin typeface="DM Sans"/>
              </a:rPr>
              <a:t>one live query per finding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5472" y="2331720"/>
            <a:ext cx="1371600" cy="868680"/>
          </a:xfrm>
          <a:prstGeom prst="roundRect">
            <a:avLst>
              <a:gd name="adj" fmla="val 12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78624" y="2450591"/>
            <a:ext cx="12252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Barlow"/>
              </a:rPr>
              <a:t>RCA Notebook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624" y="2752344"/>
            <a:ext cx="1225296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9EB7BE"/>
                </a:solidFill>
                <a:latin typeface="DM Sans"/>
              </a:rPr>
              <a:t>verdict · culprit · fix · owner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29384" y="2647188"/>
            <a:ext cx="274320" cy="237744"/>
          </a:xfrm>
          <a:prstGeom prst="rightArrow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3593591" y="2647188"/>
            <a:ext cx="274320" cy="237744"/>
          </a:xfrm>
          <a:prstGeom prst="rightArrow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5257800" y="2647188"/>
            <a:ext cx="274320" cy="237744"/>
          </a:xfrm>
          <a:prstGeom prst="rightArrow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6922007" y="2647188"/>
            <a:ext cx="274320" cy="237744"/>
          </a:xfrm>
          <a:prstGeom prst="rightArrow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6108192" y="3218688"/>
            <a:ext cx="237744" cy="310896"/>
          </a:xfrm>
          <a:prstGeom prst="downArrow">
            <a:avLst/>
          </a:prstGeom>
          <a:solidFill>
            <a:srgbClr val="7E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32369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00" b="1">
                <a:solidFill>
                  <a:srgbClr val="7E4CA8"/>
                </a:solidFill>
                <a:latin typeface="DM Sans"/>
              </a:rPr>
              <a:t>residual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59936" y="3703320"/>
            <a:ext cx="3108960" cy="914400"/>
          </a:xfrm>
          <a:prstGeom prst="roundRect">
            <a:avLst>
              <a:gd name="adj" fmla="val 12000"/>
            </a:avLst>
          </a:prstGeom>
          <a:solidFill>
            <a:srgbClr val="244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33088" y="3822191"/>
            <a:ext cx="29626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Barlow"/>
              </a:rPr>
              <a:t>Tier-2 · Agentic fallback (optional)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3088" y="4123944"/>
            <a:ext cx="29626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780" b="0">
                <a:solidFill>
                  <a:srgbClr val="9EB7BE"/>
                </a:solidFill>
                <a:latin typeface="DM Sans"/>
              </a:rPr>
              <a:t>FM reconstructs the derivation from source columns + proposes a confirming query — promoted ONLY if it matches</a:t>
            </a:r>
          </a:p>
        </p:txBody>
      </p:sp>
      <p:sp>
        <p:nvSpPr>
          <p:cNvPr id="31" name="Up Arrow 30"/>
          <p:cNvSpPr/>
          <p:nvPr/>
        </p:nvSpPr>
        <p:spPr>
          <a:xfrm>
            <a:off x="7772399" y="3374136"/>
            <a:ext cx="237744" cy="310896"/>
          </a:xfrm>
          <a:prstGeom prst="upArrow">
            <a:avLst/>
          </a:prstGeom>
          <a:solidFill>
            <a:srgbClr val="00B3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37575" y="33924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00" b="1">
                <a:solidFill>
                  <a:srgbClr val="00B378"/>
                </a:solidFill>
                <a:latin typeface="DM Sans"/>
              </a:rPr>
              <a:t>promoted 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736592"/>
            <a:ext cx="146304" cy="146304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47000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Deterministic — rule + query, no LLM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0" y="4736592"/>
            <a:ext cx="146304" cy="146304"/>
          </a:xfrm>
          <a:prstGeom prst="rect">
            <a:avLst/>
          </a:prstGeom>
          <a:solidFill>
            <a:srgbClr val="244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4700016"/>
            <a:ext cx="3840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Agentic — query-gated FM, optional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SURFACE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1">
                <a:solidFill>
                  <a:srgbClr val="1B3037"/>
                </a:solidFill>
                <a:latin typeface="Barlow"/>
              </a:rPr>
              <a:t>One engine, three entry points — matched to workspace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1B5161"/>
                </a:solidFill>
                <a:latin typeface="DM Sans"/>
              </a:rPr>
              <a:t>The same code-aware engine backs all three surfaces — the RCA notebook is identical wherever it runs.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618793"/>
                </a:solidFill>
                <a:latin typeface="Barlow"/>
              </a:rPr>
              <a:t>ENTRY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14884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618793"/>
                </a:solidFill>
                <a:latin typeface="Barlow"/>
              </a:rPr>
              <a:t>DETERMINISTIC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148840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618793"/>
                </a:solidFill>
                <a:latin typeface="Barlow"/>
              </a:rPr>
              <a:t>HYBRID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148840"/>
            <a:ext cx="18745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618793"/>
                </a:solidFill>
                <a:latin typeface="Barlow"/>
              </a:rPr>
              <a:t>BEST FOR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32304"/>
            <a:ext cx="8046720" cy="18288"/>
          </a:xfrm>
          <a:prstGeom prst="rect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4203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B3037"/>
                </a:solidFill>
                <a:latin typeface="Barlow"/>
              </a:rPr>
              <a:t>Databricks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816351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web UI · no local 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7860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0B378"/>
                </a:solidFill>
                <a:latin typeface="Barlow"/>
              </a:rPr>
              <a:t>✓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578608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0B378"/>
                </a:solidFill>
                <a:latin typeface="Barlow"/>
              </a:rPr>
              <a:t>✓ endpoint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560320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1B5161"/>
                </a:solidFill>
                <a:latin typeface="DM Sans"/>
              </a:rPr>
              <a:t>Analysts; Genie-restricted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45536"/>
            <a:ext cx="8046720" cy="13716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291839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B3037"/>
                </a:solidFill>
                <a:latin typeface="Barlow"/>
              </a:rPr>
              <a:t>CLI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59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python -m rca_engine.cli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328415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0B378"/>
                </a:solidFill>
                <a:latin typeface="Barlow"/>
              </a:rPr>
              <a:t>✓ default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328415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0B378"/>
                </a:solidFill>
                <a:latin typeface="Barlow"/>
              </a:rPr>
              <a:t>✓ --endpoint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3310127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1B5161"/>
                </a:solidFill>
                <a:latin typeface="DM Sans"/>
              </a:rPr>
              <a:t>CI/CD; Genie-restricted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95344"/>
            <a:ext cx="8046720" cy="13716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04164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B3037"/>
                </a:solidFill>
                <a:latin typeface="Barlow"/>
              </a:rPr>
              <a:t>Genie Code skill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315968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0">
                <a:solidFill>
                  <a:srgbClr val="618793"/>
                </a:solidFill>
                <a:latin typeface="DM Sans"/>
              </a:rPr>
              <a:t>rca-recon · agent mode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07822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00B378"/>
                </a:solidFill>
                <a:latin typeface="Barlow"/>
              </a:rPr>
              <a:t>✓ llm 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078224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FF3620"/>
                </a:solidFill>
                <a:latin typeface="Barlow"/>
              </a:rPr>
              <a:t>✓ BEST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059935"/>
            <a:ext cx="187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50" b="0">
                <a:solidFill>
                  <a:srgbClr val="1B5161"/>
                </a:solidFill>
                <a:latin typeface="DM Sans"/>
              </a:rPr>
              <a:t>Flexible · live agentic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645152"/>
            <a:ext cx="8046720" cy="13716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DECISION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200" b="1">
                <a:solidFill>
                  <a:srgbClr val="1B3037"/>
                </a:solidFill>
                <a:latin typeface="Barlow"/>
              </a:rPr>
              <a:t>Which entry point? Start with one question — is Genie Code approved?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1B5161"/>
                </a:solidFill>
                <a:latin typeface="DM Sans"/>
              </a:rPr>
              <a:t>Genie Code isn’t enabled everywhere. It never blocks ReconResolve — deterministic runs anywhere; agentic runs where an FM endpoint is allowed.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886200" cy="2148840"/>
          </a:xfrm>
          <a:prstGeom prst="roundRect">
            <a:avLst>
              <a:gd name="adj" fmla="val 4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286000"/>
            <a:ext cx="3886200" cy="54864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450592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1B3037"/>
                </a:solidFill>
                <a:latin typeface="Barlow"/>
              </a:rPr>
              <a:t>⛔  Genie Code NOT approved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779776"/>
            <a:ext cx="3474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Barlow"/>
              </a:rPr>
              <a:t>RESTRICTED / REGULATED WORKSPACE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154680"/>
            <a:ext cx="1051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FF3620"/>
                </a:solidFill>
                <a:latin typeface="Barlow"/>
              </a:rPr>
              <a:t>DETERMINISTIC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1546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App · CLI — ship as-is, no model, fully auditable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813048"/>
            <a:ext cx="1051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FF3620"/>
                </a:solidFill>
                <a:latin typeface="Barlow"/>
              </a:rPr>
              <a:t>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813048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App toggle · CLI --endpoint when an FM endpoint is allowed; else stay deterministic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59" y="2286000"/>
            <a:ext cx="3886200" cy="2148840"/>
          </a:xfrm>
          <a:prstGeom prst="roundRect">
            <a:avLst>
              <a:gd name="adj" fmla="val 4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09159" y="2286000"/>
            <a:ext cx="3886200" cy="54864"/>
          </a:xfrm>
          <a:prstGeom prst="rect">
            <a:avLst/>
          </a:prstGeom>
          <a:solidFill>
            <a:srgbClr val="00B3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3479" y="2450592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Barlow"/>
              </a:rPr>
              <a:t>✅  Genie Code approved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2779776"/>
            <a:ext cx="3474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9EB7BE"/>
                </a:solidFill>
                <a:latin typeface="Barlow"/>
              </a:rPr>
              <a:t>FLEXIBLE WORKSPACE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79" y="3154680"/>
            <a:ext cx="1051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0B378"/>
                </a:solidFill>
                <a:latin typeface="Barlow"/>
              </a:rPr>
              <a:t>DETERMINISTIC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1546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DM Sans"/>
              </a:rPr>
              <a:t>Any surface — skill (llm off), App or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79" y="3813048"/>
            <a:ext cx="1051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0B378"/>
                </a:solidFill>
                <a:latin typeface="Barlow"/>
              </a:rPr>
              <a:t>HYBRID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3813048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50" b="0">
                <a:solidFill>
                  <a:srgbClr val="FFFFFF"/>
                </a:solidFill>
                <a:latin typeface="DM Sans"/>
              </a:rPr>
              <a:t>Genie Code skill — best (agent reasons live); App / CLI + endpoint also 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618793"/>
                </a:solidFill>
                <a:latin typeface="DM Sans"/>
              </a:rPr>
              <a:t>Same engine underneath — the notebook is identical on every path. The choice is workspace policy and experience, never capability.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PROOF ·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200" b="1">
                <a:solidFill>
                  <a:srgbClr val="1B3037"/>
                </a:solidFill>
                <a:latin typeface="Barlow"/>
              </a:rPr>
              <a:t>Retail mart, Snowflake → Databricks, 2M rows — both approaches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0">
                <a:solidFill>
                  <a:srgbClr val="1B5161"/>
                </a:solidFill>
                <a:latin typeface="DM Sans"/>
              </a:rPr>
              <a:t>Two beds share the same rich composed ETL. Same engine, one flag apart.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3886200" cy="2697480"/>
          </a:xfrm>
          <a:prstGeom prst="roundRect">
            <a:avLst>
              <a:gd name="adj" fmla="val 4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48840"/>
            <a:ext cx="73152" cy="2697480"/>
          </a:xfrm>
          <a:prstGeom prst="rect">
            <a:avLst/>
          </a:prstGeom>
          <a:solidFill>
            <a:srgbClr val="1B5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1B5161"/>
                </a:solidFill>
                <a:latin typeface="Barlow"/>
              </a:rPr>
              <a:t>DETERMINISTIC 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618793"/>
                </a:solidFill>
                <a:latin typeface="DM Sans"/>
              </a:rPr>
              <a:t>13 findings @ 98% · no LLM · every verdict query-confirmed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3566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✓  unit_price → precision · culprit DECIMAL(18,2)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✓  order_ts_utc → timezone · culprit + INTERVAL '5 HOURS'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✓  customer_name → string · culprit UPPER(TRIM(...))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✓  is_active → boolean · CASE 'Y'/'N' → 'true'/'false'</a:t>
            </a:r>
          </a:p>
          <a:p>
            <a:pPr algn="l">
              <a:lnSpc>
                <a:spcPct val="103000"/>
              </a:lnSpc>
              <a:spcAft>
                <a:spcPts val="5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✓  tax_rate → within tolerance · correctly benign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2148840"/>
            <a:ext cx="3886200" cy="2697480"/>
          </a:xfrm>
          <a:prstGeom prst="roundRect">
            <a:avLst>
              <a:gd name="adj" fmla="val 4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09160" y="2148840"/>
            <a:ext cx="73152" cy="2697480"/>
          </a:xfrm>
          <a:prstGeom prst="rect">
            <a:avLst/>
          </a:prstGeom>
          <a:solidFill>
            <a:srgbClr val="7E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28600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FFAB00"/>
                </a:solidFill>
                <a:latin typeface="Barlow"/>
              </a:rPr>
              <a:t>HYBRID BED — + AGENTIC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542032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9EB7BE"/>
                </a:solidFill>
                <a:latin typeface="DM Sans"/>
              </a:rPr>
              <a:t>3 defects no rule can name — each query-confirmed @ 95%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2962656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DM Sans"/>
              </a:rPr>
              <a:t>✓  </a:t>
            </a:r>
            <a:r>
              <a:rPr sz="1050" b="1">
                <a:solidFill>
                  <a:srgbClr val="FFFFFF"/>
                </a:solidFill>
                <a:latin typeface="Barlow"/>
              </a:rPr>
              <a:t>net_revenue — </a:t>
            </a:r>
            <a:r>
              <a:rPr sz="1000" b="0">
                <a:solidFill>
                  <a:srgbClr val="9EB7BE"/>
                </a:solidFill>
                <a:latin typeface="DM Sans"/>
              </a:rPr>
              <a:t>missing discount×tax cross-term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47472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DM Sans"/>
              </a:rPr>
              <a:t>✓  </a:t>
            </a:r>
            <a:r>
              <a:rPr sz="1050" b="1">
                <a:solidFill>
                  <a:srgbClr val="FFFFFF"/>
                </a:solidFill>
                <a:latin typeface="Barlow"/>
              </a:rPr>
              <a:t>amount_usd — </a:t>
            </a:r>
            <a:r>
              <a:rPr sz="1000" b="0">
                <a:solidFill>
                  <a:srgbClr val="9EB7BE"/>
                </a:solidFill>
                <a:latin typeface="DM Sans"/>
              </a:rPr>
              <a:t>FX joined at month-start, not daily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398678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1">
                <a:solidFill>
                  <a:srgbClr val="00B378"/>
                </a:solidFill>
                <a:latin typeface="DM Sans"/>
              </a:rPr>
              <a:t>✓  </a:t>
            </a:r>
            <a:r>
              <a:rPr sz="1050" b="1">
                <a:solidFill>
                  <a:srgbClr val="FFFFFF"/>
                </a:solidFill>
                <a:latin typeface="Barlow"/>
              </a:rPr>
              <a:t>status_bucket — </a:t>
            </a:r>
            <a:r>
              <a:rPr sz="1000" b="0">
                <a:solidFill>
                  <a:srgbClr val="9EB7BE"/>
                </a:solidFill>
                <a:latin typeface="DM Sans"/>
              </a:rPr>
              <a:t>dropped 'R' CASE branch → 'Unknown'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4590288"/>
            <a:ext cx="3566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9EB7BE"/>
                </a:solidFill>
                <a:latin typeface="DM Sans"/>
              </a:rPr>
              <a:t>Every finding carries 🔧 transformation logic + ⚠️ culprit + source script.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BENCHMARKS · MEASURED ON PS-DR-EAST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100" b="1">
                <a:solidFill>
                  <a:srgbClr val="1B3037"/>
                </a:solidFill>
                <a:latin typeface="Barlow"/>
              </a:rPr>
              <a:t>Correct, fast, and scale-bounded on genuine reconcile 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FF3620"/>
                </a:solidFill>
                <a:latin typeface="Barlow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42032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defects detected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&amp; classified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8608" y="201168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78608" y="210312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7/7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8608" y="2542032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hybrid findings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query-confirmed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08576" y="201168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210312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~270s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542032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deterministic RCA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2M · 3 tables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201168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210312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6/6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38544" y="2542032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concurrent runs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~500s wall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27248"/>
            <a:ext cx="8046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618793"/>
                </a:solidFill>
                <a:latin typeface="Barlow"/>
              </a:rPr>
              <a:t>SCALE &amp; DATA 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Source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Stored (Delta)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Logical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Reconcile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RCA det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40156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1B5161"/>
                </a:solidFill>
                <a:latin typeface="Barlow"/>
              </a:rPr>
              <a:t>RCA hybrid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39312"/>
            <a:ext cx="8046720" cy="13716"/>
          </a:xfrm>
          <a:prstGeom prst="rect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2,000,000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~8.5 MB / table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~0.15 GB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6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944 s (warm)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2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~270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3712463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~390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20,000,000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6596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~94 MB / table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~1.5 GB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1,014 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~50 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4023359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B3037"/>
                </a:solidFill>
                <a:latin typeface="DM Sans"/>
              </a:rPr>
              <a:t>— (det)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50,000,000 (wide)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8.5 GB / table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~17 GB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1,637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~97 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433425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3620"/>
                </a:solidFill>
                <a:latin typeface="DM Sans"/>
              </a:rPr>
              <a:t>— (det)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4736592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Prod-volume proof (bottom row): 50M WIDE high-cardinality rows = 8.5 GB stored/table (~17 GB) — reconcile 27 min, RCA ~97 s. RCA runs on the bounded recon sample, so it stays flat as volume grows. Stored = DESCRIBE DETAIL; low-cardinality demo cols compress ~20–30× (logical = GB column).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VALIDATION · TEST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200" b="1">
                <a:solidFill>
                  <a:srgbClr val="1B3037"/>
                </a:solidFill>
                <a:latin typeface="Barlow"/>
              </a:rPr>
              <a:t>Tested across every capability — and every entry 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beds: hybrid ·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deterministic · aggregate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8608" y="18288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78608" y="192024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FF3620"/>
                </a:solidFill>
                <a:latin typeface="Barlow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8608" y="2377440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seeded defects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detected &amp; classified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08576" y="18288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92024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377440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entry points: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App · CLI · Skill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1828800"/>
            <a:ext cx="1874519" cy="91440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544" y="1920240"/>
            <a:ext cx="18745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2600" b="1">
                <a:solidFill>
                  <a:srgbClr val="1B3037"/>
                </a:solidFill>
                <a:latin typeface="Barlow"/>
              </a:rPr>
              <a:t>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38544" y="2377440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rows · 8.5 GB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00" b="0">
                <a:solidFill>
                  <a:srgbClr val="618793"/>
                </a:solidFill>
                <a:latin typeface="DM Sans"/>
              </a:rPr>
              <a:t>reconciled (prod)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907792"/>
            <a:ext cx="8046720" cy="420624"/>
          </a:xfrm>
          <a:prstGeom prst="roundRect">
            <a:avLst>
              <a:gd name="adj" fmla="val 10000"/>
            </a:avLst>
          </a:prstGeom>
          <a:solidFill>
            <a:srgbClr val="1B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07792"/>
            <a:ext cx="75895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FFFFFF"/>
                </a:solidFill>
                <a:latin typeface="Barlow"/>
              </a:rPr>
              <a:t>Tested:  </a:t>
            </a:r>
            <a:r>
              <a:rPr sz="950" b="0">
                <a:solidFill>
                  <a:srgbClr val="9EB7BE"/>
                </a:solidFill>
                <a:latin typeface="DM Sans"/>
              </a:rPr>
              <a:t>correctness · transform-logic + culprit + script location · confidence · deterministic &amp; hybrid · App/CLI/Skill parity · concurrency · prod-volume (50M / 8.5 GB)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5204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B378"/>
                </a:solidFill>
                <a:latin typeface="Barlow"/>
              </a:rPr>
              <a:t>✅  What worked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840480"/>
            <a:ext cx="4023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Explains every mismatch and proves it with a live query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Shows the migrated derivation, the ⚠️ culprit sub-expression, and the 📄 script path + line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Deterministic (rules) and hybrid (query-gated FM) — same engine, one flag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Per-finding confidence + a run-level rollup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Identical output on App, CLI &amp; Skill; 6 concurrent runs held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5204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B5161"/>
                </a:solidFill>
                <a:latin typeface="Barlow"/>
              </a:rPr>
              <a:t>🔎  Watch-outs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840480"/>
            <a:ext cx="3931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Agentic root-cause needs an FM endpoint + a good confirming query — query-gated, so a miss stays needs-review, never wrong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TB-scale needs wider / higher-cardinality rows (50M / 8.5 GB shown; TB = data-gen + warehouse cost)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1B3037"/>
                </a:solidFill>
                <a:latin typeface="DM Sans"/>
              </a:rPr>
              <a:t>•  A joined derivation (e.g. FX) needs the lookup table's columns — supplied via join-context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CAPABILITY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200" b="1">
                <a:solidFill>
                  <a:srgbClr val="1B3037"/>
                </a:solidFill>
                <a:latin typeface="Barlow"/>
              </a:rPr>
              <a:t>Capability status — the same across App, CLI &amp; Skill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18793"/>
                </a:solidFill>
                <a:latin typeface="Barlow"/>
              </a:rPr>
              <a:t>CAPABILITY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74519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18793"/>
                </a:solidFill>
                <a:latin typeface="Barlow"/>
              </a:rPr>
              <a:t>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874519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18793"/>
                </a:solidFill>
                <a:latin typeface="Barlow"/>
              </a:rPr>
              <a:t>WHAT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874519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618793"/>
                </a:solidFill>
                <a:latin typeface="Barlow"/>
              </a:rPr>
              <a:t>ENTRY POINTS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30552"/>
            <a:ext cx="8046720" cy="18288"/>
          </a:xfrm>
          <a:prstGeom prst="rect">
            <a:avLst/>
          </a:prstGeom>
          <a:solidFill>
            <a:srgbClr val="9EB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12848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Deterministic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212848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12848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rule + confirming query per finding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212848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19172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531059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Transformation logic + culprit + script location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531059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531059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derivation, culprit sub-expr, path·line·snippet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2531059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837383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849270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Hybrid (agentic fallback)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4927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2849270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query-gated FM on residual; promote only if confirmed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284927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155594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167481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Confidence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3167481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167481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per-finding % + confirmed badge + run rollup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3167481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473805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485692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Aggregate RCA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0440" y="348569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3485692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per-rule SUM / AVG / COUNT by group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3485692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92016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03903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Threshold &amp; schema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803903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3803903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within-tolerance benign; type/precision diffs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3803903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110227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122115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UC lineage trace-back + blast radius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0440" y="4122115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4122115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walks column/table lineage to the root; downstream consumers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35240" y="4122115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App·CLI·Skill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428439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4440326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Scale / prod-volume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0440" y="444032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63440" y="4440326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50M rows · 8.5 GB reconciled + RCA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35240" y="444032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4746650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4758537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1000" b="1">
                <a:solidFill>
                  <a:srgbClr val="1B3037"/>
                </a:solidFill>
                <a:latin typeface="Barlow"/>
              </a:rPr>
              <a:t>Concurrency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0440" y="4758537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1">
                <a:solidFill>
                  <a:srgbClr val="00B378"/>
                </a:solidFill>
                <a:latin typeface="Barlow"/>
              </a:rPr>
              <a:t>✅ Works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63440" y="4758537"/>
            <a:ext cx="2834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850" b="0">
                <a:solidFill>
                  <a:srgbClr val="618793"/>
                </a:solidFill>
                <a:latin typeface="DM Sans"/>
              </a:rPr>
              <a:t>6 concurrent runs · ~500 s wall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35240" y="4758537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850" b="0">
                <a:solidFill>
                  <a:srgbClr val="1B5161"/>
                </a:solidFill>
                <a:latin typeface="DM Sans"/>
              </a:rPr>
              <a:t>All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5064861"/>
            <a:ext cx="8046720" cy="10972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502920" cy="82296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8521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618793"/>
                </a:solidFill>
                <a:latin typeface="Barlow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96112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1">
                <a:solidFill>
                  <a:srgbClr val="1B3037"/>
                </a:solidFill>
                <a:latin typeface="Barlow"/>
              </a:rPr>
              <a:t>Technical rigor that converts into migration throughput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>
                <a:solidFill>
                  <a:srgbClr val="1B5161"/>
                </a:solidFill>
                <a:latin typeface="Barlow"/>
              </a:rPr>
              <a:t>Technical impact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78608"/>
            <a:ext cx="45720" cy="502920"/>
          </a:xfrm>
          <a:prstGeom prst="rect">
            <a:avLst/>
          </a:prstGeom>
          <a:solidFill>
            <a:srgbClr val="1B5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5603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Query-gated, never hallucinated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81635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Every verdict proven by a re-runnable query.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82112"/>
            <a:ext cx="45720" cy="502920"/>
          </a:xfrm>
          <a:prstGeom prst="rect">
            <a:avLst/>
          </a:prstGeom>
          <a:solidFill>
            <a:srgbClr val="1B5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16382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Code-aware to the sub-expression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419856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Names the exact culprit + the source script.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45720" cy="502920"/>
          </a:xfrm>
          <a:prstGeom prst="rect">
            <a:avLst/>
          </a:prstGeom>
          <a:solidFill>
            <a:srgbClr val="1B5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7673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One engine, three surfaces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0233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App · CLI · Genie — identical output, det &amp; agentic.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389120"/>
            <a:ext cx="45720" cy="502920"/>
          </a:xfrm>
          <a:prstGeom prst="rect">
            <a:avLst/>
          </a:prstGeom>
          <a:solidFill>
            <a:srgbClr val="1B5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43708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Scale-bounded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626864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Recon sample + scoped checks; 20M rows, 6 concurrent.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210312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1">
                <a:solidFill>
                  <a:srgbClr val="FF3620"/>
                </a:solidFill>
                <a:latin typeface="Barlow"/>
              </a:rPr>
              <a:t>Business impact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59" y="2578608"/>
            <a:ext cx="45720" cy="502920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0327" y="25603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Days → minutes per migration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7" y="281635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Reviewer-ready root cause for every difference.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59" y="3182112"/>
            <a:ext cx="45720" cy="502920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7" y="316382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Fits every customer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10327" y="3419856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Deterministic for Genie-restricted; agentic where allowed.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59" y="3785615"/>
            <a:ext cx="45720" cy="502920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0327" y="37673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Auditable &amp; trusted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0327" y="40233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Append-only audit trail; a query behind every verdict.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59" y="4389120"/>
            <a:ext cx="45720" cy="502920"/>
          </a:xfrm>
          <a:prstGeom prst="rect">
            <a:avLst/>
          </a:prstGeom>
          <a:solidFill>
            <a:srgbClr val="FF3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10327" y="43708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50" b="1">
                <a:solidFill>
                  <a:srgbClr val="1B3037"/>
                </a:solidFill>
                <a:latin typeface="Barlow"/>
              </a:rPr>
              <a:t>Reusable asset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0327" y="4626864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618793"/>
                </a:solidFill>
                <a:latin typeface="DM Sans"/>
              </a:rPr>
              <a:t>Dialect-agnostic KBs + harness = program-wide capability.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