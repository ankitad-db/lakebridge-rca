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72768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000" b="1">
                <a:solidFill>
                  <a:srgbClr val="1B3037"/>
                </a:solidFill>
                <a:latin typeface="Barlow"/>
              </a:rPr>
              <a:t>ReconResolve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95728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0">
                <a:solidFill>
                  <a:srgbClr val="618793"/>
                </a:solidFill>
                <a:latin typeface="DM Sans"/>
              </a:rPr>
              <a:t>The 4th stage after Lakebridge: reconcile tells you </a:t>
            </a:r>
            <a:r>
              <a:rPr sz="1500" b="1">
                <a:solidFill>
                  <a:srgbClr val="FF3620"/>
                </a:solidFill>
                <a:latin typeface="DM Sans"/>
              </a:rPr>
              <a:t>what</a:t>
            </a:r>
            <a:r>
              <a:rPr sz="1500" b="0">
                <a:solidFill>
                  <a:srgbClr val="618793"/>
                </a:solidFill>
                <a:latin typeface="DM Sans"/>
              </a:rPr>
              <a:t> differs — ReconResolve tells you </a:t>
            </a:r>
            <a:r>
              <a:rPr sz="1500" b="1">
                <a:solidFill>
                  <a:srgbClr val="FF3620"/>
                </a:solidFill>
                <a:latin typeface="DM Sans"/>
              </a:rPr>
              <a:t>why</a:t>
            </a:r>
            <a:r>
              <a:rPr sz="1500" b="0">
                <a:solidFill>
                  <a:srgbClr val="618793"/>
                </a:solidFill>
                <a:latin typeface="DM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Deterministic + agentic root-cause analysis · App · CLI · Genie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94760"/>
            <a:ext cx="1028700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0287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7340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3100" y="3794760"/>
            <a:ext cx="1239012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3794760"/>
            <a:ext cx="12390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transpile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3794760"/>
            <a:ext cx="1239012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3794760"/>
            <a:ext cx="12390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reconcile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6884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2644" y="3794760"/>
            <a:ext cx="2185416" cy="384048"/>
          </a:xfrm>
          <a:prstGeom prst="roundRect">
            <a:avLst>
              <a:gd name="adj" fmla="val 50000"/>
            </a:avLst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2644" y="3794760"/>
            <a:ext cx="21854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Barlow"/>
              </a:rPr>
              <a:t>RCA · ReconResolve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1828800" cy="329184"/>
          </a:xfrm>
          <a:prstGeom prst="roundRect">
            <a:avLst>
              <a:gd name="adj" fmla="val 30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9EB7BE"/>
                </a:solidFill>
                <a:latin typeface="Barlow"/>
              </a:rPr>
              <a:t>Field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400" b="1">
                <a:solidFill>
                  <a:srgbClr val="1B3037"/>
                </a:solidFill>
                <a:latin typeface="Barlow"/>
              </a:rPr>
              <a:t>Between “the numbers don’t match” and a fix — a week of manual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88620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73152" cy="265176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3172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Barlow"/>
              </a:rPr>
              <a:t>TODAY · LAKEBRIDGE RECONCILE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5786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>
                <a:solidFill>
                  <a:srgbClr val="1B3037"/>
                </a:solidFill>
                <a:latin typeface="Barlow"/>
              </a:rPr>
              <a:t>A list of differences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200400"/>
            <a:ext cx="3520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Reports WHICH columns / rows differ — e.g. unit_price differs on 1,844,309 of 2,000,000 rows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Stops at the symptom: no mechanism, no source, no proof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Engineer opens the ETL, hypothesizes, writes queries — days per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148840"/>
            <a:ext cx="3886200" cy="2651760"/>
          </a:xfrm>
          <a:prstGeom prst="roundRect">
            <a:avLst>
              <a:gd name="adj" fmla="val 5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59" y="2148840"/>
            <a:ext cx="73152" cy="2651760"/>
          </a:xfrm>
          <a:prstGeom prst="rect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1768" y="233172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WITH RECONRESOLVE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1768" y="25786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Barlow"/>
              </a:rPr>
              <a:t>The mechanism, the culprit, the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3200400"/>
            <a:ext cx="3520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Category + exact migrated derivation + ⚠️ likely-culprit sub-expression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The source script + a runnable confirming query + a suggested fix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Reviewer-ready notebook in minutes — deterministic or agentic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Two tiers — every verdict backed by a query, never a bare model guess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23317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31720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TIER 1 · 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432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Rule-based · query-confirmed · the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90672"/>
            <a:ext cx="3429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Per-dialect probes classify the mechanism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Parses migrated SQL → transformation logic + culprit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One confirming query per finding sets the verdict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Threshold-aware · schema &amp; aggregate RCA · 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498848"/>
            <a:ext cx="3429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1B5161"/>
                </a:solidFill>
                <a:latin typeface="DM Sans"/>
              </a:rPr>
              <a:t>Runs anywhere — no Genie, no model, no external calls.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210312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83479" y="23317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79" y="2331720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7E4CA8"/>
                </a:solidFill>
                <a:latin typeface="Barlow"/>
              </a:rPr>
              <a:t>TIER 2 ·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27432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9EB7BE"/>
                </a:solidFill>
                <a:latin typeface="DM Sans"/>
              </a:rPr>
              <a:t>Foundation-model · query-gated · optional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79" y="3090672"/>
            <a:ext cx="3429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Reconstructs the derivation from source columns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Proposes the precise cause AND a confirming query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Promoted only if the query matches every row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Interactive (Genie) or headless (FM endpoint)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4498848"/>
            <a:ext cx="3429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AB00"/>
                </a:solidFill>
                <a:latin typeface="DM Sans"/>
              </a:rPr>
              <a:t>Guardrail: the query is the gate — a wrong guess doesn’t stick.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How a recon_id becomes a proven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Deterministic path across the top; the agentic tier is an optional fallback for the residual — both end in the same query-backed notebook.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6510">
            <a:solidFill>
              <a:srgbClr val="1B51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recon_id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from Lakebridge reconcile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Ingest + classify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typed probes · per-dialect KB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7056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0208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Code-correlation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parse migrated SQL → 🔧 transform + ⚠️ culprit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1264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14416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Confirm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one live query per finding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5472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Barlow"/>
              </a:rPr>
              <a:t>RCA Notebook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9EB7BE"/>
                </a:solidFill>
                <a:latin typeface="DM Sans"/>
              </a:rPr>
              <a:t>verdict · culprit · fix · owner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29384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3593591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257800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922007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6108192" y="3218688"/>
            <a:ext cx="237744" cy="310896"/>
          </a:xfrm>
          <a:prstGeom prst="downArrow">
            <a:avLst/>
          </a:prstGeom>
          <a:solidFill>
            <a:srgbClr val="7E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32369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00" b="1">
                <a:solidFill>
                  <a:srgbClr val="7E4CA8"/>
                </a:solidFill>
                <a:latin typeface="DM Sans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59936" y="3703320"/>
            <a:ext cx="3108960" cy="914400"/>
          </a:xfrm>
          <a:prstGeom prst="roundRect">
            <a:avLst>
              <a:gd name="adj" fmla="val 12000"/>
            </a:avLst>
          </a:prstGeom>
          <a:solidFill>
            <a:srgbClr val="244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33088" y="3822191"/>
            <a:ext cx="29626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Barlow"/>
              </a:rPr>
              <a:t>Tier-2 · Agentic fallback (optional)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3088" y="412394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9EB7BE"/>
                </a:solidFill>
                <a:latin typeface="DM Sans"/>
              </a:rPr>
              <a:t>FM reconstructs the derivation from source columns + proposes a confirming query — promoted ONLY if it matches</a:t>
            </a:r>
          </a:p>
        </p:txBody>
      </p:sp>
      <p:sp>
        <p:nvSpPr>
          <p:cNvPr id="31" name="Up Arrow 30"/>
          <p:cNvSpPr/>
          <p:nvPr/>
        </p:nvSpPr>
        <p:spPr>
          <a:xfrm>
            <a:off x="7772399" y="3374136"/>
            <a:ext cx="237744" cy="310896"/>
          </a:xfrm>
          <a:prstGeom prst="upArrow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7575" y="33924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00" b="1">
                <a:solidFill>
                  <a:srgbClr val="00B378"/>
                </a:solidFill>
                <a:latin typeface="DM Sans"/>
              </a:rPr>
              <a:t>promoted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736592"/>
            <a:ext cx="146304" cy="146304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7000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Deterministic — rule + query, no LLM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4736592"/>
            <a:ext cx="146304" cy="146304"/>
          </a:xfrm>
          <a:prstGeom prst="rect">
            <a:avLst/>
          </a:prstGeom>
          <a:solidFill>
            <a:srgbClr val="244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700016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Agentic — query-gated FM, optional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SURFACE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One engine, three entry points — matched to workspace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The same code-aware engine backs all three surfaces — the RCA notebook is identical wherever it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ENTRY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HYBRID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BEST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32304"/>
            <a:ext cx="8046720" cy="18288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42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Databricks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1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web UI · no local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7860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7860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560320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Analysts; Genie-restricted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45536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91839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59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python -m rca_engine.cli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32841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default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8415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--endpoint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310127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CI/CD; Genie-restricted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95344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4164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Genie Code 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1596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rca-recon · agent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07822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llm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078224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FF3620"/>
                </a:solidFill>
                <a:latin typeface="Barlow"/>
              </a:rPr>
              <a:t>✓ BEST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59935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Flexible · live agentic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45152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DECISION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Which entry point? Start with one question — is Genie Code approved?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Genie Code isn’t enabled everywhere. It never blocks ReconResolve — deterministic runs anywhere; agentic runs where an FM endpoint is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886200" cy="214884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886200" cy="54864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5059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1B3037"/>
                </a:solidFill>
                <a:latin typeface="Barlow"/>
              </a:rPr>
              <a:t>⛔  Genie Code NOT 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797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Barlow"/>
              </a:rPr>
              <a:t>RESTRICTED / REGULATED WORKSPACE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54680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FF3620"/>
                </a:solidFill>
                <a:latin typeface="Barlow"/>
              </a:rPr>
              <a:t>DETERMINISTIC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546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App · CLI — ship as-is, no model, fully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813048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FF3620"/>
                </a:solidFill>
                <a:latin typeface="Barlow"/>
              </a:rPr>
              <a:t>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813048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App toggle · CLI --endpoint when an FM endpoint is allowed; else stay deterministic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2286000"/>
            <a:ext cx="3886200" cy="214884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59" y="2286000"/>
            <a:ext cx="3886200" cy="54864"/>
          </a:xfrm>
          <a:prstGeom prst="rect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79" y="245059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Barlow"/>
              </a:rPr>
              <a:t>✅  Genie Code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27797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9EB7BE"/>
                </a:solidFill>
                <a:latin typeface="Barlow"/>
              </a:rPr>
              <a:t>FLEXIBLE WORKSPACE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3154680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0B378"/>
                </a:solidFill>
                <a:latin typeface="Barlow"/>
              </a:rPr>
              <a:t>DETERMINISTIC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1546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DM Sans"/>
              </a:rPr>
              <a:t>Any surface — skill (llm off), App or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3813048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0B378"/>
                </a:solidFill>
                <a:latin typeface="Barlow"/>
              </a:rPr>
              <a:t>HYBRID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813048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DM Sans"/>
              </a:rPr>
              <a:t>Genie Code skill — best (agent reasons live); App / CLI + endpoint also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Same engine underneath — the notebook is identical on every path. The choice is workspace policy and experience, never capability.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PROOF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Retail mart, Snowflake → Databricks, 2M rows — both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Two beds share the same rich composed ETL. Same engine, one flag apart.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86200" cy="269748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73152" cy="269748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1B5161"/>
                </a:solidFill>
                <a:latin typeface="Barlow"/>
              </a:rPr>
              <a:t>DETERMINISTIC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13 findings @ 98% · no LLM · every verdict query-confirmed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unit_price → precision · culprit DECIMAL(18,2)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order_ts_utc → timezone · culprit + INTERVAL '5 HOURS'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customer_name → string · culprit UPPER(TRIM(...))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is_active → boolean · CASE 'Y'/'N' → 'true'/'false'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tax_rate → within tolerance · correctly benign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148840"/>
            <a:ext cx="3886200" cy="269748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2148840"/>
            <a:ext cx="73152" cy="2697480"/>
          </a:xfrm>
          <a:prstGeom prst="rect">
            <a:avLst/>
          </a:prstGeom>
          <a:solidFill>
            <a:srgbClr val="7E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FFAB00"/>
                </a:solidFill>
                <a:latin typeface="Barlow"/>
              </a:rPr>
              <a:t>HYBRID BED — +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54203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9EB7BE"/>
                </a:solidFill>
                <a:latin typeface="DM Sans"/>
              </a:rPr>
              <a:t>3 defects no rule can name — each query-confirmed @ 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962656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net_revenue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missing discount×tax cross-term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4747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amount_usd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FX joined at month-start, not daily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9867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status_bucket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dropped 'R' CASE branch → 'Unknown'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590288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9EB7BE"/>
                </a:solidFill>
                <a:latin typeface="DM Sans"/>
              </a:rPr>
              <a:t>Every finding carries 🔧 transformation logic + ⚠️ culprit + source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BENCHMARKS · MEASURED ON PS-DR-EAST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100" b="1">
                <a:solidFill>
                  <a:srgbClr val="1B3037"/>
                </a:solidFill>
                <a:latin typeface="Barlow"/>
              </a:rPr>
              <a:t>Correct, fast, and scale-bounded on genuine reconcile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FF3620"/>
                </a:solidFill>
                <a:latin typeface="Barlow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defects detected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&amp; classified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7/7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hybrid findings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query-confirmed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~270s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deterministic RCA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2M · 3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concurrent runs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~500s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27248"/>
            <a:ext cx="8046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SCALE &amp; DATA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Source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Stored (Delta)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Logical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Reconcile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RCA det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RCA hybrid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39312"/>
            <a:ext cx="8046720" cy="13716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2,000,000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~8.5 MB / 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~0.15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944 s (warm)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~270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~390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20,000,000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6596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~94 MB / 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~1.5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1,014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~50 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— (det)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50,000,000 (wide)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8.5 GB / table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~17 GB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1,637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~97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~268 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73659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Prod-volume proof (bottom row): 50M WIDE high-cardinality rows = 8.5 GB stored/table (~17 GB) — reconcile 27 min, RCA ~97 s. RCA runs on the bounded recon sample, so it stays flat as volume grows. Stored = DESCRIBE DETAIL; low-cardinality demo cols compress ~20–30× (logical = GB column).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VALIDATION · TEST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Tested across every capability — and every entry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beds: hybrid ·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deterministic · aggregate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FF3620"/>
                </a:solidFill>
                <a:latin typeface="Barlow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seeded defects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detected &amp; classified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entry points: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App · CLI · 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rows · 8.5 GB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reconciled (prod)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07792"/>
            <a:ext cx="8046720" cy="420624"/>
          </a:xfrm>
          <a:prstGeom prst="roundRect">
            <a:avLst>
              <a:gd name="adj" fmla="val 10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07792"/>
            <a:ext cx="75895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FFFF"/>
                </a:solidFill>
                <a:latin typeface="Barlow"/>
              </a:rPr>
              <a:t>Tested:  </a:t>
            </a:r>
            <a:r>
              <a:rPr sz="950" b="0">
                <a:solidFill>
                  <a:srgbClr val="9EB7BE"/>
                </a:solidFill>
                <a:latin typeface="DM Sans"/>
              </a:rPr>
              <a:t>correctness · transform-logic + culprit + script location · confidence · deterministic &amp; hybrid · App/CLI/Skill parity · concurrency · prod-volume (50M / 8.5 GB)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204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B378"/>
                </a:solidFill>
                <a:latin typeface="Barlow"/>
              </a:rPr>
              <a:t>✅  What worked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4023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Explains every mismatch and proves it with a live query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Shows the migrated derivation, the ⚠️ culprit sub-expression, and the 📄 script path + line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Deterministic (rules) and hybrid (query-gated FM) — same engine, one flag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Per-finding confidence + a run-level rollup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Identical output on App, CLI &amp; Skill; 6 concurrent runs 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5204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5161"/>
                </a:solidFill>
                <a:latin typeface="Barlow"/>
              </a:rPr>
              <a:t>🔎  Watch-outs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4048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Agentic root-cause needs an FM endpoint + a good confirming query — query-gated, so a miss stays needs-review, never wrong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TB-scale needs wider / higher-cardinality rows (50M / 8.5 GB shown; TB = data-gen + warehouse cost)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A joined derivation (e.g. FX) needs the lookup table's columns — supplied via join-context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CAPABILITY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Capability status — the same across App, CLI &amp;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74519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74519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WHAT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74519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ENTRY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30552"/>
            <a:ext cx="8046720" cy="18288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12848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Deterministic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212848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12848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rule + confirming query per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212848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917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531059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Transformation logic + culprit + script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31059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531059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derivation, culprit sub-expr, path·line·snippet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531059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37383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49270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Hybrid (agentic fallback)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4927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849270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query-gated FM on residual; promote only if confirmed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84927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55594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167481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Confidence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3167481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167481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per-finding % + confirmed badge + run rollup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167481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473805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85692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Aggregate RCA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48569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485692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per-rule SUM / AVG / COUNT by 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348569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92016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03903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Threshold &amp; 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803903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3803903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within-tolerance benign; type/precision diffs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3803903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110227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22115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UC lineage trace-back + blast radius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0440" y="4122115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122115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walks column/table lineage to the root; downstream consumers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4122115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428439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440326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Scale / prod-volume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444032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4440326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50M rows · 8.5 GB reconciled + RCA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444032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746650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758537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Concurrency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0440" y="4758537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63440" y="4758537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6 concurrent runs · ~500 s wall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5240" y="4758537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064861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Technical rigor that converts into migration throughput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>
                <a:solidFill>
                  <a:srgbClr val="1B5161"/>
                </a:solidFill>
                <a:latin typeface="Barlow"/>
              </a:rPr>
              <a:t>Technical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78608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Query-gated, never hallucinated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8163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Every verdict proven by a re-runnable query.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82112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1638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Code-aware to the sub-expression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41985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Names the exact culprit + the source script.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One engine, three surfaces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23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App · CLI · Genie — identical output, det &amp; agentic.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89120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3708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Scale-bounded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268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Recon sample + scoped checks; 20M rows, 6 concurrent.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21031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>
                <a:solidFill>
                  <a:srgbClr val="FF3620"/>
                </a:solidFill>
                <a:latin typeface="Barlow"/>
              </a:rPr>
              <a:t>Business impact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59" y="2578608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7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Days → minutes per migration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7" y="28163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Reviewer-ready root cause for every difference.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59" y="3182112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7" y="31638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Fits every customer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0327" y="341985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Deterministic for Genie-restricted; agentic where allowed.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59" y="3785615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0327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Auditable &amp; trusted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0327" y="4023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Append-only audit trail; a query behind every verdict.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59" y="4389120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0327" y="43708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Reusable asset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7" y="46268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Dialect-agnostic KBs + harness = program-wide capability.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