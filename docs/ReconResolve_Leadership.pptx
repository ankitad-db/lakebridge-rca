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B3037"/>
                </a:solidFill>
                <a:latin typeface="Barlow"/>
              </a:rPr>
              <a:t>ReconResolve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8046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>
                <a:solidFill>
                  <a:srgbClr val="618793"/>
                </a:solidFill>
                <a:latin typeface="DM Sans"/>
              </a:rPr>
              <a:t>The 4th stage after Lakebridge: reconcile tells you </a:t>
            </a:r>
            <a:r>
              <a:rPr sz="1500" b="1">
                <a:solidFill>
                  <a:srgbClr val="FF3620"/>
                </a:solidFill>
                <a:latin typeface="DM Sans"/>
              </a:rPr>
              <a:t>what</a:t>
            </a:r>
            <a:r>
              <a:rPr sz="1500" b="0">
                <a:solidFill>
                  <a:srgbClr val="618793"/>
                </a:solidFill>
                <a:latin typeface="DM Sans"/>
              </a:rPr>
              <a:t> differs — ReconResolve tells you </a:t>
            </a:r>
            <a:r>
              <a:rPr sz="1500" b="1">
                <a:solidFill>
                  <a:srgbClr val="FF3620"/>
                </a:solidFill>
                <a:latin typeface="DM Sans"/>
              </a:rPr>
              <a:t>why</a:t>
            </a:r>
            <a:r>
              <a:rPr sz="1500" b="0">
                <a:solidFill>
                  <a:srgbClr val="618793"/>
                </a:solidFill>
                <a:latin typeface="DM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B5161"/>
                </a:solidFill>
                <a:latin typeface="DM Sans"/>
              </a:rPr>
              <a:t>Deterministic + agentic root-cause analysis · App · CLI · Genie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1028700" cy="384048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0287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618793"/>
                </a:solidFill>
                <a:latin typeface="Barlow"/>
              </a:rP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7340" y="3794760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EB7BE"/>
                </a:solidFill>
                <a:latin typeface="DM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3100" y="3794760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3100" y="3794760"/>
            <a:ext cx="12390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618793"/>
                </a:solidFill>
                <a:latin typeface="Barlow"/>
              </a:rPr>
              <a:t>transpile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3794760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EB7BE"/>
                </a:solidFill>
                <a:latin typeface="DM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3794760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794760"/>
            <a:ext cx="12390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618793"/>
                </a:solidFill>
                <a:latin typeface="Barlow"/>
              </a:rPr>
              <a:t>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6884" y="3794760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EB7BE"/>
                </a:solidFill>
                <a:latin typeface="DM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2644" y="3794760"/>
            <a:ext cx="2185416" cy="384048"/>
          </a:xfrm>
          <a:prstGeom prst="roundRect">
            <a:avLst>
              <a:gd name="adj" fmla="val 50000"/>
            </a:avLst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2644" y="3794760"/>
            <a:ext cx="21854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rlow"/>
              </a:rPr>
              <a:t>RCA · ReconResolve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828800" cy="329184"/>
          </a:xfrm>
          <a:prstGeom prst="roundRect">
            <a:avLst>
              <a:gd name="adj" fmla="val 30000"/>
            </a:avLst>
          </a:prstGeom>
          <a:solidFill>
            <a:srgbClr val="1B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9EB7BE"/>
                </a:solidFill>
                <a:latin typeface="Barlow"/>
              </a:rPr>
              <a:t>Field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1B3037"/>
                </a:solidFill>
                <a:latin typeface="Barlow"/>
              </a:rPr>
              <a:t>Between “the numbers don’t match” and a fix — a week of manual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886200" cy="26517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73152" cy="2651760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FF3620"/>
                </a:solidFill>
                <a:latin typeface="Barlow"/>
              </a:rPr>
              <a:t>TODAY · LAKEBRIDGE RECONCILE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7860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1B3037"/>
                </a:solidFill>
                <a:latin typeface="Barlow"/>
              </a:rPr>
              <a:t>A list of differences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00400"/>
            <a:ext cx="3520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18793"/>
                </a:solidFill>
                <a:latin typeface="DM Sans"/>
              </a:rPr>
              <a:t>•  Reports WHICH columns / rows differ — e.g. unit_price differs on 1,844,309 of 2,000,000 rows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618793"/>
                </a:solidFill>
                <a:latin typeface="DM Sans"/>
              </a:rPr>
              <a:t>•  Stops at the symptom: no mechanism, no source, no proof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618793"/>
                </a:solidFill>
                <a:latin typeface="DM Sans"/>
              </a:rPr>
              <a:t>•  Engineer opens the ETL, hypothesizes, writes queries — days per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2148840"/>
            <a:ext cx="3886200" cy="2651760"/>
          </a:xfrm>
          <a:prstGeom prst="roundRect">
            <a:avLst>
              <a:gd name="adj" fmla="val 5000"/>
            </a:avLst>
          </a:prstGeom>
          <a:solidFill>
            <a:srgbClr val="1B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59" y="2148840"/>
            <a:ext cx="73152" cy="2651760"/>
          </a:xfrm>
          <a:prstGeom prst="rect">
            <a:avLst/>
          </a:prstGeom>
          <a:solidFill>
            <a:srgbClr val="00B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233172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00B378"/>
                </a:solidFill>
                <a:latin typeface="Barlow"/>
              </a:rPr>
              <a:t>WITH RECONRESOLVE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57860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Barlow"/>
              </a:rPr>
              <a:t>The mechanism, the culprit, the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3200400"/>
            <a:ext cx="3520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9EB7BE"/>
                </a:solidFill>
                <a:latin typeface="DM Sans"/>
              </a:rPr>
              <a:t>✓  Category + exact migrated derivation + ⚠️ likely-culprit sub-expression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9EB7BE"/>
                </a:solidFill>
                <a:latin typeface="DM Sans"/>
              </a:rPr>
              <a:t>✓  The source script + a runnable confirming query + a suggested fix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9EB7BE"/>
                </a:solidFill>
                <a:latin typeface="DM Sans"/>
              </a:rPr>
              <a:t>✓  Reviewer-ready notebook in minutes — deterministic or agentic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1B3037"/>
                </a:solidFill>
                <a:latin typeface="Barlow"/>
              </a:rPr>
              <a:t>Two tiers — every verdict backed by a query, never a bare model guess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886200" cy="2743200"/>
          </a:xfrm>
          <a:prstGeom prst="roundRect">
            <a:avLst>
              <a:gd name="adj" fmla="val 4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33172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1965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1B5161"/>
                </a:solidFill>
                <a:latin typeface="Barlow"/>
              </a:rPr>
              <a:t>TIER 1 ·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432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18793"/>
                </a:solidFill>
                <a:latin typeface="DM Sans"/>
              </a:rPr>
              <a:t>Rule-based · query-confirmed · the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906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0">
                <a:solidFill>
                  <a:srgbClr val="1B3037"/>
                </a:solidFill>
                <a:latin typeface="DM Sans"/>
              </a:rPr>
              <a:t>✓  Per-dialect probes classify the mechanism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1B3037"/>
                </a:solidFill>
                <a:latin typeface="DM Sans"/>
              </a:rPr>
              <a:t>✓  Parses migrated SQL → transformation logic + culprit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1B3037"/>
                </a:solidFill>
                <a:latin typeface="DM Sans"/>
              </a:rPr>
              <a:t>✓  One confirming query per finding sets the verdict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1B3037"/>
                </a:solidFill>
                <a:latin typeface="DM Sans"/>
              </a:rPr>
              <a:t>✓  Threshold-aware · schema &amp; aggregate RCA · fixes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498848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1B5161"/>
                </a:solidFill>
                <a:latin typeface="DM Sans"/>
              </a:rPr>
              <a:t>Runs anywhere — no Genie, no model, no external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2103120"/>
            <a:ext cx="3886200" cy="2743200"/>
          </a:xfrm>
          <a:prstGeom prst="roundRect">
            <a:avLst>
              <a:gd name="adj" fmla="val 4000"/>
            </a:avLst>
          </a:prstGeom>
          <a:solidFill>
            <a:srgbClr val="1B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83479" y="233172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2331720"/>
            <a:ext cx="1965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7E4CA8"/>
                </a:solidFill>
                <a:latin typeface="Barlow"/>
              </a:rPr>
              <a:t>TIER 2 · AGENTIC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27432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EB7BE"/>
                </a:solidFill>
                <a:latin typeface="DM Sans"/>
              </a:rPr>
              <a:t>Foundation-model · query-gated · 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30906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DM Sans"/>
              </a:rPr>
              <a:t>✓  Reconstructs the derivation from source columns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DM Sans"/>
              </a:rPr>
              <a:t>✓  Proposes the precise cause AND a confirming query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DM Sans"/>
              </a:rPr>
              <a:t>✓  Promoted only if the query matches every row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DM Sans"/>
              </a:rPr>
              <a:t>✓  Interactive (Genie) or headless (FM endpoint)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4498848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FFAB00"/>
                </a:solidFill>
                <a:latin typeface="DM Sans"/>
              </a:rPr>
              <a:t>Guardrail: the query is the gate — a wrong guess doesn’t stick.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1B3037"/>
                </a:solidFill>
                <a:latin typeface="Barlow"/>
              </a:rPr>
              <a:t>How a recon_id becomes a proven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B5161"/>
                </a:solidFill>
                <a:latin typeface="DM Sans"/>
              </a:rPr>
              <a:t>Deterministic path across the top; the agentic tier is an optional fallback for the residual — both end in the same query-backed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16510">
            <a:solidFill>
              <a:srgbClr val="1B51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450591"/>
            <a:ext cx="1225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1B3037"/>
                </a:solidFill>
                <a:latin typeface="Barlow"/>
              </a:rPr>
              <a:t>recon_id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52344"/>
            <a:ext cx="1225296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780" b="0">
                <a:solidFill>
                  <a:srgbClr val="618793"/>
                </a:solidFill>
                <a:latin typeface="DM Sans"/>
              </a:rPr>
              <a:t>from Lakebridge reconcile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2848" y="233172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450591"/>
            <a:ext cx="1225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1B3037"/>
                </a:solidFill>
                <a:latin typeface="Barlow"/>
              </a:rPr>
              <a:t>Ingest +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52344"/>
            <a:ext cx="1225296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780" b="0">
                <a:solidFill>
                  <a:srgbClr val="618793"/>
                </a:solidFill>
                <a:latin typeface="DM Sans"/>
              </a:rPr>
              <a:t>typed probes · per-dialect KB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7056" y="233172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50591"/>
            <a:ext cx="1225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1B3037"/>
                </a:solidFill>
                <a:latin typeface="Barlow"/>
              </a:rPr>
              <a:t>Code-correlation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2752344"/>
            <a:ext cx="1225296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780" b="0">
                <a:solidFill>
                  <a:srgbClr val="618793"/>
                </a:solidFill>
                <a:latin typeface="DM Sans"/>
              </a:rPr>
              <a:t>parse migrated SQL → 🔧 transform + ⚠️ culprit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1264" y="233172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450591"/>
            <a:ext cx="1225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1B3037"/>
                </a:solidFill>
                <a:latin typeface="Barlow"/>
              </a:rPr>
              <a:t>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752344"/>
            <a:ext cx="1225296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780" b="0">
                <a:solidFill>
                  <a:srgbClr val="618793"/>
                </a:solidFill>
                <a:latin typeface="DM Sans"/>
              </a:rPr>
              <a:t>one live query per finding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5472" y="233172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1B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2450591"/>
            <a:ext cx="1225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Barlow"/>
              </a:rPr>
              <a:t>RCA 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2752344"/>
            <a:ext cx="1225296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780" b="0">
                <a:solidFill>
                  <a:srgbClr val="9EB7BE"/>
                </a:solidFill>
                <a:latin typeface="DM Sans"/>
              </a:rPr>
              <a:t>verdict · culprit · fix · owner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29384" y="2647188"/>
            <a:ext cx="274320" cy="237744"/>
          </a:xfrm>
          <a:prstGeom prst="rightArrow">
            <a:avLst/>
          </a:prstGeom>
          <a:solidFill>
            <a:srgbClr val="9EB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3593591" y="2647188"/>
            <a:ext cx="274320" cy="237744"/>
          </a:xfrm>
          <a:prstGeom prst="rightArrow">
            <a:avLst/>
          </a:prstGeom>
          <a:solidFill>
            <a:srgbClr val="9EB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257800" y="2647188"/>
            <a:ext cx="274320" cy="237744"/>
          </a:xfrm>
          <a:prstGeom prst="rightArrow">
            <a:avLst/>
          </a:prstGeom>
          <a:solidFill>
            <a:srgbClr val="9EB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922007" y="2647188"/>
            <a:ext cx="274320" cy="237744"/>
          </a:xfrm>
          <a:prstGeom prst="rightArrow">
            <a:avLst/>
          </a:prstGeom>
          <a:solidFill>
            <a:srgbClr val="9EB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6108192" y="3218688"/>
            <a:ext cx="237744" cy="310896"/>
          </a:xfrm>
          <a:prstGeom prst="downArrow">
            <a:avLst/>
          </a:prstGeom>
          <a:solidFill>
            <a:srgbClr val="7E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2369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1">
                <a:solidFill>
                  <a:srgbClr val="7E4CA8"/>
                </a:solidFill>
                <a:latin typeface="DM Sans"/>
              </a:rPr>
              <a:t>residual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59936" y="370332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244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33088" y="3822191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Barlow"/>
              </a:rPr>
              <a:t>Tier-2 · Agentic fallback (optional)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412394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780" b="0">
                <a:solidFill>
                  <a:srgbClr val="9EB7BE"/>
                </a:solidFill>
                <a:latin typeface="DM Sans"/>
              </a:rPr>
              <a:t>FM reconstructs the derivation from source columns + proposes a confirming query — promoted ONLY if it matches</a:t>
            </a:r>
          </a:p>
        </p:txBody>
      </p:sp>
      <p:sp>
        <p:nvSpPr>
          <p:cNvPr id="31" name="Up Arrow 30"/>
          <p:cNvSpPr/>
          <p:nvPr/>
        </p:nvSpPr>
        <p:spPr>
          <a:xfrm>
            <a:off x="7772399" y="3374136"/>
            <a:ext cx="237744" cy="310896"/>
          </a:xfrm>
          <a:prstGeom prst="upArrow">
            <a:avLst/>
          </a:prstGeom>
          <a:solidFill>
            <a:srgbClr val="00B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5" y="33924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1">
                <a:solidFill>
                  <a:srgbClr val="00B378"/>
                </a:solidFill>
                <a:latin typeface="DM Sans"/>
              </a:rPr>
              <a:t>promoted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36592"/>
            <a:ext cx="146304" cy="146304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7000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Deterministic — rule + query, no LLM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4736592"/>
            <a:ext cx="146304" cy="146304"/>
          </a:xfrm>
          <a:prstGeom prst="rect">
            <a:avLst/>
          </a:prstGeom>
          <a:solidFill>
            <a:srgbClr val="244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470001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Agentic — query-gated FM, optional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SURFACE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1B3037"/>
                </a:solidFill>
                <a:latin typeface="Barlow"/>
              </a:rPr>
              <a:t>One engine, three entry points — matched to workspace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B5161"/>
                </a:solidFill>
                <a:latin typeface="DM Sans"/>
              </a:rPr>
              <a:t>The same code-aware engine backs all three surfaces — the RCA notebook is identical wherever it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618793"/>
                </a:solidFill>
                <a:latin typeface="Barlow"/>
              </a:rPr>
              <a:t>ENTRY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618793"/>
                </a:solidFill>
                <a:latin typeface="Barlow"/>
              </a:rPr>
              <a:t>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488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618793"/>
                </a:solidFill>
                <a:latin typeface="Barlow"/>
              </a:rPr>
              <a:t>HYBRID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618793"/>
                </a:solidFill>
                <a:latin typeface="Barlow"/>
              </a:rPr>
              <a:t>BEST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32304"/>
            <a:ext cx="8046720" cy="18288"/>
          </a:xfrm>
          <a:prstGeom prst="rect">
            <a:avLst/>
          </a:prstGeom>
          <a:solidFill>
            <a:srgbClr val="9EB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B3037"/>
                </a:solidFill>
                <a:latin typeface="Barlow"/>
              </a:rPr>
              <a:t>Databricks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1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18793"/>
                </a:solidFill>
                <a:latin typeface="DM Sans"/>
              </a:rPr>
              <a:t>web UI · no local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7860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0B378"/>
                </a:solidFill>
                <a:latin typeface="Barlow"/>
              </a:rPr>
              <a:t>✓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0B378"/>
                </a:solidFill>
                <a:latin typeface="Barlow"/>
              </a:rPr>
              <a:t>✓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560320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>
                <a:solidFill>
                  <a:srgbClr val="1B5161"/>
                </a:solidFill>
                <a:latin typeface="DM Sans"/>
              </a:rPr>
              <a:t>Analysts; Genie-restricted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45536"/>
            <a:ext cx="8046720" cy="13716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39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B3037"/>
                </a:solidFill>
                <a:latin typeface="Barlow"/>
              </a:rPr>
              <a:t>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59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18793"/>
                </a:solidFill>
                <a:latin typeface="DM Sans"/>
              </a:rPr>
              <a:t>python -m rca_engine.cli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28415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0B378"/>
                </a:solidFill>
                <a:latin typeface="Barlow"/>
              </a:rPr>
              <a:t>✓ default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32841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0B378"/>
                </a:solidFill>
                <a:latin typeface="Barlow"/>
              </a:rPr>
              <a:t>✓ --endpoint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310127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>
                <a:solidFill>
                  <a:srgbClr val="1B5161"/>
                </a:solidFill>
                <a:latin typeface="DM Sans"/>
              </a:rPr>
              <a:t>CI/CD; Genie-restricted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95344"/>
            <a:ext cx="8046720" cy="13716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41648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B3037"/>
                </a:solidFill>
                <a:latin typeface="Barlow"/>
              </a:rPr>
              <a:t>Genie Code 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1596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18793"/>
                </a:solidFill>
                <a:latin typeface="DM Sans"/>
              </a:rPr>
              <a:t>rca-recon · agent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07822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0B378"/>
                </a:solidFill>
                <a:latin typeface="Barlow"/>
              </a:rPr>
              <a:t>✓ llm 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07822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FF3620"/>
                </a:solidFill>
                <a:latin typeface="Barlow"/>
              </a:rPr>
              <a:t>✓ BEST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059935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>
                <a:solidFill>
                  <a:srgbClr val="1B5161"/>
                </a:solidFill>
                <a:latin typeface="DM Sans"/>
              </a:rPr>
              <a:t>Flexible · live agentic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45152"/>
            <a:ext cx="8046720" cy="13716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DECISION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1B3037"/>
                </a:solidFill>
                <a:latin typeface="Barlow"/>
              </a:rPr>
              <a:t>Which entry point? Start with one question — is Genie Code approved?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B5161"/>
                </a:solidFill>
                <a:latin typeface="DM Sans"/>
              </a:rPr>
              <a:t>Genie Code isn’t enabled everywhere. It never blocks ReconResolve — deterministic runs anywhere; agentic runs where an FM endpoint is allowed.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886200" cy="2148840"/>
          </a:xfrm>
          <a:prstGeom prst="roundRect">
            <a:avLst>
              <a:gd name="adj" fmla="val 4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886200" cy="54864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5059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B3037"/>
                </a:solidFill>
                <a:latin typeface="Barlow"/>
              </a:rPr>
              <a:t>⛔  Genie Code NOT 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7977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Barlow"/>
              </a:rPr>
              <a:t>RESTRICTED / REGULATED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54680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3620"/>
                </a:solidFill>
                <a:latin typeface="Barlow"/>
              </a:rPr>
              <a:t>DETERMINISTIC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15468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App · CLI — ship as-is, no model, fully auditable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813048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3620"/>
                </a:solidFill>
                <a:latin typeface="Barlow"/>
              </a:rPr>
              <a:t>HYBRID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813048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App toggle · CLI --endpoint when an FM endpoint is allowed; else stay deterministic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286000"/>
            <a:ext cx="3886200" cy="2148840"/>
          </a:xfrm>
          <a:prstGeom prst="roundRect">
            <a:avLst>
              <a:gd name="adj" fmla="val 4000"/>
            </a:avLst>
          </a:prstGeom>
          <a:solidFill>
            <a:srgbClr val="1B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59" y="2286000"/>
            <a:ext cx="3886200" cy="54864"/>
          </a:xfrm>
          <a:prstGeom prst="rect">
            <a:avLst/>
          </a:prstGeom>
          <a:solidFill>
            <a:srgbClr val="00B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79" y="245059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Barlow"/>
              </a:rPr>
              <a:t>✅  Genie Code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277977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9EB7BE"/>
                </a:solidFill>
                <a:latin typeface="Barlow"/>
              </a:rPr>
              <a:t>FLEXIBLE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79" y="3154680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0B378"/>
                </a:solidFill>
                <a:latin typeface="Barlow"/>
              </a:rPr>
              <a:t>DETERMINISTIC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5468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DM Sans"/>
              </a:rPr>
              <a:t>Any surface — skill (llm off), App or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3813048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0B378"/>
                </a:solidFill>
                <a:latin typeface="Barlow"/>
              </a:rPr>
              <a:t>HYBRID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813048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DM Sans"/>
              </a:rPr>
              <a:t>Genie Code skill — best (agent reasons live); App / CLI + endpoint also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18793"/>
                </a:solidFill>
                <a:latin typeface="DM Sans"/>
              </a:rPr>
              <a:t>Same engine underneath — the notebook is identical on every path. The choice is workspace policy and experience, never capability.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PROOF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1B3037"/>
                </a:solidFill>
                <a:latin typeface="Barlow"/>
              </a:rPr>
              <a:t>Retail mart, Snowflake → Databricks, 2M rows — both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1B5161"/>
                </a:solidFill>
                <a:latin typeface="DM Sans"/>
              </a:rPr>
              <a:t>Two beds share the same rich composed ETL. Same engine, one flag apart.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886200" cy="2697480"/>
          </a:xfrm>
          <a:prstGeom prst="roundRect">
            <a:avLst>
              <a:gd name="adj" fmla="val 4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73152" cy="2697480"/>
          </a:xfrm>
          <a:prstGeom prst="rect">
            <a:avLst/>
          </a:prstGeom>
          <a:solidFill>
            <a:srgbClr val="1B5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B5161"/>
                </a:solidFill>
                <a:latin typeface="Barlow"/>
              </a:rPr>
              <a:t>DETERMINISTIC 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618793"/>
                </a:solidFill>
                <a:latin typeface="DM Sans"/>
              </a:rPr>
              <a:t>13 findings @ 98% · no LLM · every verdict query-confirmed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566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✓  unit_price → precision · culprit DECIMAL(18,2)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✓  order_ts_utc → timezone · culprit + INTERVAL '5 HOURS'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✓  customer_name → string · culprit UPPER(TRIM(...))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✓  is_active → boolean · CASE 'Y'/'N' → 'true'/'false'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✓  tax_rate → within tolerance · correctly benign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148840"/>
            <a:ext cx="3886200" cy="2697480"/>
          </a:xfrm>
          <a:prstGeom prst="roundRect">
            <a:avLst>
              <a:gd name="adj" fmla="val 4000"/>
            </a:avLst>
          </a:prstGeom>
          <a:solidFill>
            <a:srgbClr val="1B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2148840"/>
            <a:ext cx="73152" cy="2697480"/>
          </a:xfrm>
          <a:prstGeom prst="rect">
            <a:avLst/>
          </a:prstGeom>
          <a:solidFill>
            <a:srgbClr val="7E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2860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AB00"/>
                </a:solidFill>
                <a:latin typeface="Barlow"/>
              </a:rPr>
              <a:t>HYBRID BED — + AGENTIC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54203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9EB7BE"/>
                </a:solidFill>
                <a:latin typeface="DM Sans"/>
              </a:rPr>
              <a:t>3 defects no rule can name — each query-confirmed @ 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962656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1">
                <a:solidFill>
                  <a:srgbClr val="00B378"/>
                </a:solidFill>
                <a:latin typeface="DM Sans"/>
              </a:rPr>
              <a:t>✓  </a:t>
            </a:r>
            <a:r>
              <a:rPr sz="1050" b="1">
                <a:solidFill>
                  <a:srgbClr val="FFFFFF"/>
                </a:solidFill>
                <a:latin typeface="Barlow"/>
              </a:rPr>
              <a:t>net_revenue — </a:t>
            </a:r>
            <a:r>
              <a:rPr sz="1000" b="0">
                <a:solidFill>
                  <a:srgbClr val="9EB7BE"/>
                </a:solidFill>
                <a:latin typeface="DM Sans"/>
              </a:rPr>
              <a:t>missing discount×tax cross-term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4747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1">
                <a:solidFill>
                  <a:srgbClr val="00B378"/>
                </a:solidFill>
                <a:latin typeface="DM Sans"/>
              </a:rPr>
              <a:t>✓  </a:t>
            </a:r>
            <a:r>
              <a:rPr sz="1050" b="1">
                <a:solidFill>
                  <a:srgbClr val="FFFFFF"/>
                </a:solidFill>
                <a:latin typeface="Barlow"/>
              </a:rPr>
              <a:t>amount_usd — </a:t>
            </a:r>
            <a:r>
              <a:rPr sz="1000" b="0">
                <a:solidFill>
                  <a:srgbClr val="9EB7BE"/>
                </a:solidFill>
                <a:latin typeface="DM Sans"/>
              </a:rPr>
              <a:t>FX joined at month-start, not daily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98678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1">
                <a:solidFill>
                  <a:srgbClr val="00B378"/>
                </a:solidFill>
                <a:latin typeface="DM Sans"/>
              </a:rPr>
              <a:t>✓  </a:t>
            </a:r>
            <a:r>
              <a:rPr sz="1050" b="1">
                <a:solidFill>
                  <a:srgbClr val="FFFFFF"/>
                </a:solidFill>
                <a:latin typeface="Barlow"/>
              </a:rPr>
              <a:t>status_bucket — </a:t>
            </a:r>
            <a:r>
              <a:rPr sz="1000" b="0">
                <a:solidFill>
                  <a:srgbClr val="9EB7BE"/>
                </a:solidFill>
                <a:latin typeface="DM Sans"/>
              </a:rPr>
              <a:t>dropped 'R' CASE branch → 'Unknown'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59028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9EB7BE"/>
                </a:solidFill>
                <a:latin typeface="DM Sans"/>
              </a:rPr>
              <a:t>Every finding carries 🔧 transformation logic + ⚠️ culprit + source 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BENCHMARKS · MEASURED ON PS-DR-EAST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100" b="1">
                <a:solidFill>
                  <a:srgbClr val="1B3037"/>
                </a:solidFill>
                <a:latin typeface="Barlow"/>
              </a:rPr>
              <a:t>Correct, fast, and scale-bounded on genuine reconcile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74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FF3620"/>
                </a:solidFill>
                <a:latin typeface="Barlow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defects detected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&amp; classified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201168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2103120"/>
            <a:ext cx="1874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1B3037"/>
                </a:solidFill>
                <a:latin typeface="Barlow"/>
              </a:rPr>
              <a:t>7/7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54203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hybrid findings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query-confirmed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576" y="201168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103120"/>
            <a:ext cx="1874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1B3037"/>
                </a:solidFill>
                <a:latin typeface="Barlow"/>
              </a:rPr>
              <a:t>~270s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54203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deterministic RCA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2M · 3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8544" y="201168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2103120"/>
            <a:ext cx="18745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1B3037"/>
                </a:solidFill>
                <a:latin typeface="Barlow"/>
              </a:rPr>
              <a:t>6/6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54203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concurrent runs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~500s 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27248"/>
            <a:ext cx="8046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618793"/>
                </a:solidFill>
                <a:latin typeface="Barlow"/>
              </a:rPr>
              <a:t>SCALE &amp; DATA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015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1B5161"/>
                </a:solidFill>
                <a:latin typeface="Barlow"/>
              </a:rPr>
              <a:t>Source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4015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1B5161"/>
                </a:solidFill>
                <a:latin typeface="Barlow"/>
              </a:rPr>
              <a:t>Stored (Delta)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4015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1B5161"/>
                </a:solidFill>
                <a:latin typeface="Barlow"/>
              </a:rPr>
              <a:t>Logical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4015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1B5161"/>
                </a:solidFill>
                <a:latin typeface="Barlow"/>
              </a:rPr>
              <a:t>Reconcile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4015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1B5161"/>
                </a:solidFill>
                <a:latin typeface="Barlow"/>
              </a:rPr>
              <a:t>RCA det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4015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1B5161"/>
                </a:solidFill>
                <a:latin typeface="Barlow"/>
              </a:rPr>
              <a:t>RCA hybrid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39312"/>
            <a:ext cx="8046720" cy="13716"/>
          </a:xfrm>
          <a:prstGeom prst="rect">
            <a:avLst/>
          </a:prstGeom>
          <a:solidFill>
            <a:srgbClr val="9EB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2,000,000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~8.5 MB /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~0.15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944 s (warm)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~270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~390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20,000,000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~94 MB /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~1.5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1,014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~50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B3037"/>
                </a:solidFill>
                <a:latin typeface="DM Sans"/>
              </a:rPr>
              <a:t>— (det shown)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43984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>
                <a:solidFill>
                  <a:srgbClr val="618793"/>
                </a:solidFill>
                <a:latin typeface="DM Sans"/>
              </a:rPr>
              <a:t>Stored = Delta/Parquet bytes (DESCRIBE DETAIL); low-cardinality demo columns compress ~20–30× (logical = the GB figure). RCA runs on the bounded recon sample — 10× data grows RCA ~2×, reconcile ~3.2×. A true TB run needs wider, higher-cardinality rows (raise N in build_retail_beds.py) — flagged follow-up, reproducible from the same scripts.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502920" cy="82296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18793"/>
                </a:solidFill>
                <a:latin typeface="Barlow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1B3037"/>
                </a:solidFill>
                <a:latin typeface="Barlow"/>
              </a:rPr>
              <a:t>Technical rigor that converts into migration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5161"/>
                </a:solidFill>
                <a:latin typeface="Barlow"/>
              </a:rPr>
              <a:t>Technical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78608"/>
            <a:ext cx="45720" cy="502920"/>
          </a:xfrm>
          <a:prstGeom prst="rect">
            <a:avLst/>
          </a:prstGeom>
          <a:solidFill>
            <a:srgbClr val="1B5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60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Query-gated, never hallucinated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163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Every verdict proven by a re-runnable query.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82112"/>
            <a:ext cx="45720" cy="502920"/>
          </a:xfrm>
          <a:prstGeom prst="rect">
            <a:avLst/>
          </a:prstGeom>
          <a:solidFill>
            <a:srgbClr val="1B5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638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Code-aware to the sub-expression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Names the exact culprit + the source script.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45720" cy="502920"/>
          </a:xfrm>
          <a:prstGeom prst="rect">
            <a:avLst/>
          </a:prstGeom>
          <a:solidFill>
            <a:srgbClr val="1B5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67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One engine, three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0233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App · CLI · Genie — identical output, det &amp; agentic.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45720" cy="502920"/>
          </a:xfrm>
          <a:prstGeom prst="rect">
            <a:avLst/>
          </a:prstGeom>
          <a:solidFill>
            <a:srgbClr val="1B5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3708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Scale-bounded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6268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Recon sample + scoped checks; 20M rows, 6 concurrent.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1031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3620"/>
                </a:solidFill>
                <a:latin typeface="Barlow"/>
              </a:rPr>
              <a:t>Business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2578608"/>
            <a:ext cx="45720" cy="502920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7" y="2560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Days → minutes per migration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7" y="28163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Reviewer-ready root cause for every difference.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3182112"/>
            <a:ext cx="45720" cy="502920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7" y="31638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Fits every 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7" y="341985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Deterministic for Genie-restricted; agentic where allowed.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59" y="3785615"/>
            <a:ext cx="45720" cy="502920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7" y="3767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Auditable &amp; trusted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7" y="40233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Append-only audit trail; a query behind every verdict.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4389120"/>
            <a:ext cx="45720" cy="502920"/>
          </a:xfrm>
          <a:prstGeom prst="rect">
            <a:avLst/>
          </a:prstGeom>
          <a:solidFill>
            <a:srgbClr val="FF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0327" y="43708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B3037"/>
                </a:solidFill>
                <a:latin typeface="Barlow"/>
              </a:rPr>
              <a:t>Reusable asset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7" y="46268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18793"/>
                </a:solidFill>
                <a:latin typeface="DM Sans"/>
              </a:rPr>
              <a:t>Dialect-agnostic KBs + harness = program-wide capability.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